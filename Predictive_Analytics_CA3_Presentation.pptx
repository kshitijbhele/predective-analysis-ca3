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10362895" cy="5394960"/>
          </a:xfrm>
          <a:prstGeom prst="roundRect">
            <a:avLst/>
          </a:prstGeom>
          <a:solidFill>
            <a:srgbClr val="203658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484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 b="1">
                <a:solidFill>
                  <a:srgbClr val="2980B9"/>
                </a:solidFill>
              </a:rPr>
              <a:t>PREDICTIVE ANALYTICS  |  END-TO-END MODEL DEVELOPMENT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</a:rPr>
              <a:t>Dual-Dataset E-Commerce Consumer Conversion Modeling</a:t>
            </a:r>
          </a:p>
          <a:p>
            <a:pPr>
              <a:spcAft>
                <a:spcPts val="2800"/>
              </a:spcAft>
            </a:pPr>
            <a:r>
              <a:rPr sz="1400">
                <a:solidFill>
                  <a:srgbClr val="C8D7EB"/>
                </a:solidFill>
              </a:rPr>
              <a:t>Integrating Macro-Session Dynamics (UCI) and Micro-Clickstream Event Funnels (Retailrocket) with Data Leakage Isolation</a:t>
            </a:r>
          </a:p>
          <a:p>
            <a:r>
              <a:rPr sz="1200">
                <a:solidFill>
                  <a:srgbClr val="AAB9CD"/>
                </a:solidFill>
              </a:rPr>
              <a:t>Candidate / Presenter: Kshitij Bhele
Domain: E-Commerce Predictive Analytics &amp; Web Telemetry Mining
Datasets: UCI Online Shoppers (12,330 sessions) &amp; Retailrocket (2.75M clickstream events)
Academic Presentation: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4CDEB"/>
                </a:solidFill>
              </a:rPr>
              <a:t>PREDICTIVE ANALYTICS  |  CA3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1. Problem Statement &amp; Industrial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7548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82B49"/>
                </a:solidFill>
              </a:rPr>
              <a:t>The E-Commerce Abandonment Crisis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2980B9"/>
                </a:solidFill>
              </a:rPr>
              <a:t>• The Conversion Deficit: </a:t>
            </a:r>
            <a:r>
              <a:rPr sz="1100">
                <a:solidFill>
                  <a:srgbClr val="2C3E50"/>
                </a:solidFill>
              </a:rPr>
              <a:t>Over 97% of online shopping sessions end without a transaction. Global average conversion rates range between 1.5% and 3.0%.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2980B9"/>
                </a:solidFill>
              </a:rPr>
              <a:t>• Escalating CAC: </a:t>
            </a:r>
            <a:r>
              <a:rPr sz="1100">
                <a:solidFill>
                  <a:srgbClr val="2C3E50"/>
                </a:solidFill>
              </a:rPr>
              <a:t>Customer Acquisition Cost (CAC) via digital ad auctions has risen drastically. Failing to convert acquired visitors destroys operating margins.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2980B9"/>
                </a:solidFill>
              </a:rPr>
              <a:t>• Post-Session Decay: </a:t>
            </a:r>
            <a:r>
              <a:rPr sz="1100">
                <a:solidFill>
                  <a:srgbClr val="2C3E50"/>
                </a:solidFill>
              </a:rPr>
              <a:t>Retrospective retargeting (emails, display remarketing) suffers from severe delay; once a user exits, recovery rates plunge below 3%.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2980B9"/>
                </a:solidFill>
              </a:rPr>
              <a:t>• The Need for Real-Time Intent: </a:t>
            </a:r>
            <a:r>
              <a:rPr sz="1100">
                <a:solidFill>
                  <a:srgbClr val="2C3E50"/>
                </a:solidFill>
              </a:rPr>
              <a:t>E-commerce stores require sub-second machine learning models that evaluate consumer purchase propensity in flight during active browsing.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82B49"/>
                </a:solidFill>
              </a:rPr>
              <a:t>Predictive Analytics Objective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6A085"/>
                </a:solidFill>
              </a:rPr>
              <a:t>• In-Flight Intent Scoring: </a:t>
            </a:r>
            <a:r>
              <a:rPr sz="1100">
                <a:solidFill>
                  <a:srgbClr val="2C3E50"/>
                </a:solidFill>
              </a:rPr>
              <a:t>Predict whether an active visitor will convert (Revenue = True / 1) based on early navigational clickstream signals.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6A085"/>
                </a:solidFill>
              </a:rPr>
              <a:t>• Data Leakage Hazard: </a:t>
            </a:r>
            <a:r>
              <a:rPr sz="1100">
                <a:solidFill>
                  <a:srgbClr val="2C3E50"/>
                </a:solidFill>
              </a:rPr>
              <a:t>Expose and isolate retrospective metric contamination (e.g. Google Analytics' PageValues) that artificially inflates offline test metrics.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6A085"/>
                </a:solidFill>
              </a:rPr>
              <a:t>• Automated Dynamic Intervention: </a:t>
            </a:r>
            <a:r>
              <a:rPr sz="1100">
                <a:solidFill>
                  <a:srgbClr val="2C3E50"/>
                </a:solidFill>
              </a:rPr>
              <a:t>Trigger automated interventions—such as dynamic 10% vouchers, live chat support, or free-shipping thresholds—before cart abandonment.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16A085"/>
                </a:solidFill>
              </a:rPr>
              <a:t>• Dual-Dataset Validation: </a:t>
            </a:r>
            <a:r>
              <a:rPr sz="1100">
                <a:solidFill>
                  <a:srgbClr val="2C3E50"/>
                </a:solidFill>
              </a:rPr>
              <a:t>Harmonize macro-session benchmarks (UCI) with high-velocity real-world event logs (Retailrocket) for universal generalizability.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4CDEB"/>
                </a:solidFill>
              </a:rPr>
              <a:t>PREDICTIVE ANALYTICS  |  CA3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2. Dual-Dataset Architecture: Macro-Session vs. Micro-Clickstream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7548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82B49"/>
                </a:solidFill>
              </a:rPr>
              <a:t>Dataset 1: UCI Online Shoppers Intention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980B9"/>
                </a:solidFill>
              </a:rPr>
              <a:t>• Modality: </a:t>
            </a:r>
            <a:r>
              <a:rPr sz="1050">
                <a:solidFill>
                  <a:srgbClr val="2C3E50"/>
                </a:solidFill>
              </a:rPr>
              <a:t>Macro-level session summaries (12,330 visits; 12,205 deduplicated).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980B9"/>
                </a:solidFill>
              </a:rPr>
              <a:t>• Target Variable: </a:t>
            </a:r>
            <a:r>
              <a:rPr sz="1050">
                <a:solidFill>
                  <a:srgbClr val="2C3E50"/>
                </a:solidFill>
              </a:rPr>
              <a:t>Revenue (Boolean: 84.5% False, 15.5% True).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980B9"/>
                </a:solidFill>
              </a:rPr>
              <a:t>• Behavioral Attributes: </a:t>
            </a:r>
            <a:r>
              <a:rPr sz="1050">
                <a:solidFill>
                  <a:srgbClr val="2C3E50"/>
                </a:solidFill>
              </a:rPr>
              <a:t>Duration &amp; pageview counts on Administrative, Informational, and ProductRelated pages.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980B9"/>
                </a:solidFill>
              </a:rPr>
              <a:t>• Analytics Telemetry: </a:t>
            </a:r>
            <a:r>
              <a:rPr sz="1050">
                <a:solidFill>
                  <a:srgbClr val="2C3E50"/>
                </a:solidFill>
              </a:rPr>
              <a:t>BounceRates, ExitRates, and the retrospective PageValues metric.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980B9"/>
                </a:solidFill>
              </a:rPr>
              <a:t>• Contextual Signals: </a:t>
            </a:r>
            <a:r>
              <a:rPr sz="1050">
                <a:solidFill>
                  <a:srgbClr val="2C3E50"/>
                </a:solidFill>
              </a:rPr>
              <a:t>SpecialDay, Month, OperatingSystems, Browser, Region, TrafficType, VisitorType, Weekend.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980B9"/>
                </a:solidFill>
              </a:rPr>
              <a:t>• Role in Project: </a:t>
            </a:r>
            <a:r>
              <a:rPr sz="1050">
                <a:solidFill>
                  <a:srgbClr val="2C3E50"/>
                </a:solidFill>
              </a:rPr>
              <a:t>Serves as the benchmark for tabular session classification and the empirical testbed for PageValues leakage isolation.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82B49"/>
                </a:solidFill>
              </a:rPr>
              <a:t>Dataset 2: Retailrocket Clickstream Recommender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6A085"/>
                </a:solidFill>
              </a:rPr>
              <a:t>• Modality: </a:t>
            </a:r>
            <a:r>
              <a:rPr sz="1050">
                <a:solidFill>
                  <a:srgbClr val="2C3E50"/>
                </a:solidFill>
              </a:rPr>
              <a:t>High-velocity micro-interaction event logs (2,756,101 events across 1,407,580 visitors).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6A085"/>
                </a:solidFill>
              </a:rPr>
              <a:t>• Event Taxonomy: </a:t>
            </a:r>
            <a:r>
              <a:rPr sz="1050">
                <a:solidFill>
                  <a:srgbClr val="2C3E50"/>
                </a:solidFill>
              </a:rPr>
              <a:t>view (2,664,312), addtocart (69,332), and transaction (22,457).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6A085"/>
                </a:solidFill>
              </a:rPr>
              <a:t>• E-Commerce Funnel: </a:t>
            </a:r>
            <a:r>
              <a:rPr sz="1050">
                <a:solidFill>
                  <a:srgbClr val="2C3E50"/>
                </a:solidFill>
              </a:rPr>
              <a:t>0.81% overall event conversion rate; 0.83% visitor-level purchase rate.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6A085"/>
                </a:solidFill>
              </a:rPr>
              <a:t>• Enrichment Data: </a:t>
            </a:r>
            <a:r>
              <a:rPr sz="1050">
                <a:solidFill>
                  <a:srgbClr val="2C3E50"/>
                </a:solidFill>
              </a:rPr>
              <a:t>CategoryTree taxonomy (1,669 categories; 25 root departments).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6A085"/>
                </a:solidFill>
              </a:rPr>
              <a:t>• Sessionization: </a:t>
            </a:r>
            <a:r>
              <a:rPr sz="1050">
                <a:solidFill>
                  <a:srgbClr val="2C3E50"/>
                </a:solidFill>
              </a:rPr>
              <a:t>Aggregated into visitor journeys with duration, intensity, item depth, and cart ratios.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6A085"/>
                </a:solidFill>
              </a:rPr>
              <a:t>• Role in Project: </a:t>
            </a:r>
            <a:r>
              <a:rPr sz="1050">
                <a:solidFill>
                  <a:srgbClr val="2C3E50"/>
                </a:solidFill>
              </a:rPr>
              <a:t>Demonstrates high-throughput sessionization, multi-stage funnel progression, and pre-cart vs. full-funnel predictive modeling.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4CDEB"/>
                </a:solidFill>
              </a:rPr>
              <a:t>PREDICTIVE ANALYTICS  |  CA3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3. Data Understanding &amp; Exploratory Data Analysis (EDA)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3832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3200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980B9"/>
                </a:solidFill>
              </a:rPr>
              <a:t>2,756,101</a:t>
            </a:r>
          </a:p>
          <a:p>
            <a:r>
              <a:rPr sz="1100" b="1">
                <a:solidFill>
                  <a:srgbClr val="182B49"/>
                </a:solidFill>
              </a:rPr>
              <a:t>Total Clickstream Events</a:t>
            </a:r>
          </a:p>
          <a:p>
            <a:r>
              <a:rPr sz="950">
                <a:solidFill>
                  <a:srgbClr val="7F8C8D"/>
                </a:solidFill>
              </a:rPr>
              <a:t>Retailrocket event log volume across 4.5 months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80160"/>
            <a:ext cx="33832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371600"/>
            <a:ext cx="3200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D35400"/>
                </a:solidFill>
              </a:rPr>
              <a:t>0.84%</a:t>
            </a:r>
          </a:p>
          <a:p>
            <a:r>
              <a:rPr sz="1100" b="1">
                <a:solidFill>
                  <a:srgbClr val="182B49"/>
                </a:solidFill>
              </a:rPr>
              <a:t>View-to-Purchase Funnel</a:t>
            </a:r>
          </a:p>
          <a:p>
            <a:r>
              <a:rPr sz="950">
                <a:solidFill>
                  <a:srgbClr val="7F8C8D"/>
                </a:solidFill>
              </a:rPr>
              <a:t>Extreme conversion attrition across 2.66M views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280160"/>
            <a:ext cx="33832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371600"/>
            <a:ext cx="3200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6A085"/>
                </a:solidFill>
              </a:rPr>
              <a:t>15.47%</a:t>
            </a:r>
          </a:p>
          <a:p>
            <a:r>
              <a:rPr sz="1100" b="1">
                <a:solidFill>
                  <a:srgbClr val="182B49"/>
                </a:solidFill>
              </a:rPr>
              <a:t>UCI Conversion Rate</a:t>
            </a:r>
          </a:p>
          <a:p>
            <a:r>
              <a:rPr sz="950">
                <a:solidFill>
                  <a:srgbClr val="7F8C8D"/>
                </a:solidFill>
              </a:rPr>
              <a:t>Class imbalance ratio (1,908 buyers vs 10,422 browsers)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26080"/>
            <a:ext cx="10698480" cy="3474720"/>
          </a:xfrm>
          <a:prstGeom prst="round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17520"/>
            <a:ext cx="10332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82B49"/>
                </a:solidFill>
              </a:rPr>
              <a:t>Key Empirical Observations from EDA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182B49"/>
                </a:solidFill>
              </a:rPr>
              <a:t>• The Funnel Drop-off Phenomenon: </a:t>
            </a:r>
            <a:r>
              <a:rPr sz="1050">
                <a:solidFill>
                  <a:srgbClr val="2C3E50"/>
                </a:solidFill>
              </a:rPr>
              <a:t>Retailrocket clickstream confirms massive funnel drop-off: out of 100 product views, only 2.60 items are added to cart, and only 0.84 reach transaction completion. Pre-cart intervention is essential.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182B49"/>
                </a:solidFill>
              </a:rPr>
              <a:t>• Temporal Seasonality: </a:t>
            </a:r>
            <a:r>
              <a:rPr sz="1050">
                <a:solidFill>
                  <a:srgbClr val="2C3E50"/>
                </a:solidFill>
              </a:rPr>
              <a:t>In the UCI dataset, November represents the peak purchasing surge (Cyber Monday / holiday shopping), showing a conversion rate of 25.6%, compared to February with only 1.9%.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182B49"/>
                </a:solidFill>
              </a:rPr>
              <a:t>• PageValues Bifurcation: </a:t>
            </a:r>
            <a:r>
              <a:rPr sz="1050">
                <a:solidFill>
                  <a:srgbClr val="2C3E50"/>
                </a:solidFill>
              </a:rPr>
              <a:t>Non-converting sessions have a PageValues median of exactly 0.00. Converting sessions exhibit a massive positive spike. This confirms that PageValues is calculated after transactions take place.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182B49"/>
                </a:solidFill>
              </a:rPr>
              <a:t>• Browsing Velocity vs. Dwell Time: </a:t>
            </a:r>
            <a:r>
              <a:rPr sz="1050">
                <a:solidFill>
                  <a:srgbClr val="2C3E50"/>
                </a:solidFill>
              </a:rPr>
              <a:t>In Retailrocket, converting visitors display higher views_per_item (re-visitation depth: 1.8 vs 1.1) and prolonged session duration, indicating deliberate comparison shopping.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4CDEB"/>
                </a:solidFill>
              </a:rPr>
              <a:t>PREDICTIVE ANALYTICS  |  CA3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4. Preprocessing &amp; Clickstream Sessionization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7548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82B49"/>
                </a:solidFill>
              </a:rPr>
              <a:t>UCI Data Preprocessing Pipeline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980B9"/>
                </a:solidFill>
              </a:rPr>
              <a:t>• Deduplication: </a:t>
            </a:r>
            <a:r>
              <a:rPr sz="1050">
                <a:solidFill>
                  <a:srgbClr val="2C3E50"/>
                </a:solidFill>
              </a:rPr>
              <a:t>125 exact duplicate sessions removed (12,205 unique sessions retained).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980B9"/>
                </a:solidFill>
              </a:rPr>
              <a:t>• Missing Value Checks: </a:t>
            </a:r>
            <a:r>
              <a:rPr sz="1050">
                <a:solidFill>
                  <a:srgbClr val="2C3E50"/>
                </a:solidFill>
              </a:rPr>
              <a:t>0 nulls identified across all 18 features; full integrity verified.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980B9"/>
                </a:solidFill>
              </a:rPr>
              <a:t>• StandardScaler: </a:t>
            </a:r>
            <a:r>
              <a:rPr sz="1050">
                <a:solidFill>
                  <a:srgbClr val="2C3E50"/>
                </a:solidFill>
              </a:rPr>
              <a:t>14 numerical columns scaled to mean 0, unit variance (durations, bounce/exit rates).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980B9"/>
                </a:solidFill>
              </a:rPr>
              <a:t>• OneHotEncoder: </a:t>
            </a:r>
            <a:r>
              <a:rPr sz="1050">
                <a:solidFill>
                  <a:srgbClr val="2C3E50"/>
                </a:solidFill>
              </a:rPr>
              <a:t>Month, VisitorType, and Weekend encoded with handle_unknown='ignore'.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980B9"/>
                </a:solidFill>
              </a:rPr>
              <a:t>• ColumnTransformer: </a:t>
            </a:r>
            <a:r>
              <a:rPr sz="1050">
                <a:solidFill>
                  <a:srgbClr val="2C3E50"/>
                </a:solidFill>
              </a:rPr>
              <a:t>Scikit-Learn preprocessor eliminates data leakage across cross-validation folds.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980B9"/>
                </a:solidFill>
              </a:rPr>
              <a:t>• Stratified Split: </a:t>
            </a:r>
            <a:r>
              <a:rPr sz="1050">
                <a:solidFill>
                  <a:srgbClr val="2C3E50"/>
                </a:solidFill>
              </a:rPr>
              <a:t>80/20 train/test partition maintaining 15.5% conversion ratio.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82B49"/>
                </a:solidFill>
              </a:rPr>
              <a:t>Retailrocket Sessionization Pipeline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6A085"/>
                </a:solidFill>
              </a:rPr>
              <a:t>• Vectorised Clickstream Grouping: </a:t>
            </a:r>
            <a:r>
              <a:rPr sz="1050">
                <a:solidFill>
                  <a:srgbClr val="2C3E50"/>
                </a:solidFill>
              </a:rPr>
              <a:t>Aggregated 2.75M event logs by visitorid in 1.5 seconds.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6A085"/>
                </a:solidFill>
              </a:rPr>
              <a:t>• Behavioral Feature Engineering: </a:t>
            </a:r>
            <a:r>
              <a:rPr sz="1050">
                <a:solidFill>
                  <a:srgbClr val="2C3E50"/>
                </a:solidFill>
              </a:rPr>
              <a:t>Engineered duration_min, view_intensity, unique_items, views_per_item, and cart_to_view_ratio.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6A085"/>
                </a:solidFill>
              </a:rPr>
              <a:t>• Funnel Target Construction: </a:t>
            </a:r>
            <a:r>
              <a:rPr sz="1050">
                <a:solidFill>
                  <a:srgbClr val="2C3E50"/>
                </a:solidFill>
              </a:rPr>
              <a:t>has_transaction (1 if completed transaction, 0 if abandoned).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6A085"/>
                </a:solidFill>
              </a:rPr>
              <a:t>• Stratified Modeling Sample: </a:t>
            </a:r>
            <a:r>
              <a:rPr sz="1050">
                <a:solidFill>
                  <a:srgbClr val="2C3E50"/>
                </a:solidFill>
              </a:rPr>
              <a:t>Combined all 11,719 buyers + 40,000 non-buyers (51,719 visitors total; 22.7% positive class).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6A085"/>
                </a:solidFill>
              </a:rPr>
              <a:t>• Early Pre-Cart Subsetting: </a:t>
            </a:r>
            <a:r>
              <a:rPr sz="1050">
                <a:solidFill>
                  <a:srgbClr val="2C3E50"/>
                </a:solidFill>
              </a:rPr>
              <a:t>Strict pre-cart feature set: views, unique_items, duration_min, view_intensity, views_per_item.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6A085"/>
                </a:solidFill>
              </a:rPr>
              <a:t>• Full-Funnel Journey Subsetting: </a:t>
            </a:r>
            <a:r>
              <a:rPr sz="1050">
                <a:solidFill>
                  <a:srgbClr val="2C3E50"/>
                </a:solidFill>
              </a:rPr>
              <a:t>Adds late-stage signals: cart_adds and cart_to_view_ratio.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4CDEB"/>
                </a:solidFill>
              </a:rPr>
              <a:t>PREDICTIVE ANALYTICS  |  CA3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5. The Feature Leakage Experiment: The PageValues Anomaly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10698480" cy="1371600"/>
          </a:xfrm>
          <a:prstGeom prst="roundRect">
            <a:avLst/>
          </a:prstGeom>
          <a:solidFill>
            <a:srgbClr val="FDEDEC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C0392B"/>
                </a:solidFill>
              </a:rPr>
              <a:t>CRITICAL INSIGHT: RETROSPECTIVE DATA LEAKAGE IN E-COMMERCE ANALYTICS</a:t>
            </a:r>
          </a:p>
          <a:p>
            <a:r>
              <a:rPr sz="1100">
                <a:solidFill>
                  <a:srgbClr val="2C3E50"/>
                </a:solidFill>
              </a:rPr>
              <a:t>Google Analytics defines PageValue = (Ecommerce Revenue + Goal Value) / Unique Pageviews. Because PageValues incorporates the revenue realized at the conclusion of the session, including it creates severe retrospective leakage. Models achieve inflated ROC-AUC (&gt;0.93) in offline validation, but catastrophically fail in real-time production.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5120640" cy="3566160"/>
          </a:xfrm>
          <a:prstGeom prst="round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0392B"/>
                </a:solidFill>
              </a:rPr>
              <a:t>Configuration A: With PageValues (Retrospective)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C0392B"/>
                </a:solidFill>
              </a:rPr>
              <a:t>• Metric Distortion: </a:t>
            </a:r>
            <a:r>
              <a:rPr sz="1050">
                <a:solidFill>
                  <a:srgbClr val="2C3E50"/>
                </a:solidFill>
              </a:rPr>
              <a:t>Gradient Boosting reaches 0.9372 ROC-AUC; Decision Tree Recall reaches 85.86%.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C0392B"/>
                </a:solidFill>
              </a:rPr>
              <a:t>• Dominant Feature: </a:t>
            </a:r>
            <a:r>
              <a:rPr sz="1050">
                <a:solidFill>
                  <a:srgbClr val="2C3E50"/>
                </a:solidFill>
              </a:rPr>
              <a:t>PageValues absorbs over 83.4% of total feature importance.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C0392B"/>
                </a:solidFill>
              </a:rPr>
              <a:t>• Production Reality: </a:t>
            </a:r>
            <a:r>
              <a:rPr sz="1050">
                <a:solidFill>
                  <a:srgbClr val="2C3E50"/>
                </a:solidFill>
              </a:rPr>
              <a:t>Completely useless in a live production environment because transactions have not yet occurred!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C0392B"/>
                </a:solidFill>
              </a:rPr>
              <a:t>• Model Trap: </a:t>
            </a:r>
            <a:r>
              <a:rPr sz="1050">
                <a:solidFill>
                  <a:srgbClr val="2C3E50"/>
                </a:solidFill>
              </a:rPr>
              <a:t>Creates a false sense of model confidence while obscuring genuine behavioral exploration patterns.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834640"/>
            <a:ext cx="5212080" cy="3566160"/>
          </a:xfrm>
          <a:prstGeom prst="round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926080"/>
            <a:ext cx="48463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6A085"/>
                </a:solidFill>
              </a:rPr>
              <a:t>Configuration B: Without PageValues (Production-Safe)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6A085"/>
                </a:solidFill>
              </a:rPr>
              <a:t>• Honest Evaluation: </a:t>
            </a:r>
            <a:r>
              <a:rPr sz="1050">
                <a:solidFill>
                  <a:srgbClr val="2C3E50"/>
                </a:solidFill>
              </a:rPr>
              <a:t>Gradient Boosting achieves 0.7843 ROC-AUC; Logistic Regression achieves 0.7509 ROC-AUC.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6A085"/>
                </a:solidFill>
              </a:rPr>
              <a:t>• Production Champion: </a:t>
            </a:r>
            <a:r>
              <a:rPr sz="1050">
                <a:solidFill>
                  <a:srgbClr val="2C3E50"/>
                </a:solidFill>
              </a:rPr>
              <a:t>Balanced Logistic Regression achieves 76.70% Recall, successfully capturing 3 out of 4 converting shoppers early.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6A085"/>
                </a:solidFill>
              </a:rPr>
              <a:t>• True Behavioral Signals: </a:t>
            </a:r>
            <a:r>
              <a:rPr sz="1050">
                <a:solidFill>
                  <a:srgbClr val="2C3E50"/>
                </a:solidFill>
              </a:rPr>
              <a:t>Model relies on ProductRelated_Duration (31.2%), ExitRates (18.5%), and Month_Nov (7.4%).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6A085"/>
                </a:solidFill>
              </a:rPr>
              <a:t>• Live Deployment: </a:t>
            </a:r>
            <a:r>
              <a:rPr sz="1050">
                <a:solidFill>
                  <a:srgbClr val="2C3E50"/>
                </a:solidFill>
              </a:rPr>
              <a:t>100% operational in real time; enables dynamic interventions before visitor leaves.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4CDEB"/>
                </a:solidFill>
              </a:rPr>
              <a:t>PREDICTIVE ANALYTICS  |  CA3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6. Predictive Modelling Approach: 5 Machine Learning Algorithms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1069848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53312"/>
            <a:ext cx="103327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980B9"/>
                </a:solidFill>
              </a:rPr>
              <a:t>1. Logistic Regression  </a:t>
            </a:r>
            <a:r>
              <a:rPr sz="1050" i="1">
                <a:solidFill>
                  <a:srgbClr val="7F8C8D"/>
                </a:solidFill>
              </a:rPr>
              <a:t>[Probabilistic Linear Classifier]</a:t>
            </a:r>
          </a:p>
          <a:p>
            <a:r>
              <a:rPr sz="1000">
                <a:solidFill>
                  <a:srgbClr val="2C3E50"/>
                </a:solidFill>
              </a:rPr>
              <a:t>Serves as an interpretable parametric baseline. Implements cost-sensitive class weighting to counteract severe class imbalance.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69848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04872"/>
            <a:ext cx="103327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82B49"/>
                </a:solidFill>
              </a:rPr>
              <a:t>2. Decision Tree (CART)  </a:t>
            </a:r>
            <a:r>
              <a:rPr sz="1050" i="1">
                <a:solidFill>
                  <a:srgbClr val="7F8C8D"/>
                </a:solidFill>
              </a:rPr>
              <a:t>[Non-Linear Rule-Based Classifier]</a:t>
            </a:r>
          </a:p>
          <a:p>
            <a:r>
              <a:rPr sz="1000">
                <a:solidFill>
                  <a:srgbClr val="2C3E50"/>
                </a:solidFill>
              </a:rPr>
              <a:t>Recursively partitions the feature space based on Gini impurity. Identifies non-linear threshold interactions without requiring linearity.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1069848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56431"/>
            <a:ext cx="103327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6A085"/>
                </a:solidFill>
              </a:rPr>
              <a:t>3. Random Forest  </a:t>
            </a:r>
            <a:r>
              <a:rPr sz="1050" i="1">
                <a:solidFill>
                  <a:srgbClr val="7F8C8D"/>
                </a:solidFill>
              </a:rPr>
              <a:t>[Ensemble Bagging Architecture]</a:t>
            </a:r>
          </a:p>
          <a:p>
            <a:r>
              <a:rPr sz="1000">
                <a:solidFill>
                  <a:srgbClr val="2C3E50"/>
                </a:solidFill>
              </a:rPr>
              <a:t>Averages predictions across 50-100 decorrelated decision trees built on bootstrap samples. Substantially reduces model variance.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34840"/>
            <a:ext cx="1069848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507992"/>
            <a:ext cx="103327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D35400"/>
                </a:solidFill>
              </a:rPr>
              <a:t>4. Gradient Tree Boosting  </a:t>
            </a:r>
            <a:r>
              <a:rPr sz="1050" i="1">
                <a:solidFill>
                  <a:srgbClr val="7F8C8D"/>
                </a:solidFill>
              </a:rPr>
              <a:t>[Ensemble Sequential Boosting]</a:t>
            </a:r>
          </a:p>
          <a:p>
            <a:r>
              <a:rPr sz="1000">
                <a:solidFill>
                  <a:srgbClr val="2C3E50"/>
                </a:solidFill>
              </a:rPr>
              <a:t>Sequentially minimizes binomial log-loss by fitting shallow regression trees to pseudo-residuals. Maximizes discriminative power.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486400"/>
            <a:ext cx="1069848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559552"/>
            <a:ext cx="103327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F8C8D"/>
                </a:solidFill>
              </a:rPr>
              <a:t>5. Dummy Baseline  </a:t>
            </a:r>
            <a:r>
              <a:rPr sz="1050" i="1">
                <a:solidFill>
                  <a:srgbClr val="7F8C8D"/>
                </a:solidFill>
              </a:rPr>
              <a:t>[Stratified Random Guessing]</a:t>
            </a:r>
          </a:p>
          <a:p>
            <a:r>
              <a:rPr sz="1000">
                <a:solidFill>
                  <a:srgbClr val="2C3E50"/>
                </a:solidFill>
              </a:rPr>
              <a:t>Generates stratified predictions matching empirical training class frequencies. Establishes the performance floor (ROC-AUC ~ 0.50).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4CDEB"/>
                </a:solidFill>
              </a:rPr>
              <a:t>PREDICTIVE ANALYTICS  |  CA3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7. Model Training &amp; Hyperparameter Tuning (Stratified 5-Fold CV)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7548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82B49"/>
                </a:solidFill>
              </a:rPr>
              <a:t>Cross-Validation Protocol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2980B9"/>
                </a:solidFill>
              </a:rPr>
              <a:t>• Stratified 5-Fold Partitioning: </a:t>
            </a:r>
            <a:r>
              <a:rPr sz="1050">
                <a:solidFill>
                  <a:srgbClr val="2C3E50"/>
                </a:solidFill>
              </a:rPr>
              <a:t>Preserves exact class ratios (15.5% in UCI, 22.7% in Retailrocket sample) within each training and validation fold.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2980B9"/>
                </a:solidFill>
              </a:rPr>
              <a:t>• Optimization Metric (ROC-AUC): </a:t>
            </a:r>
            <a:r>
              <a:rPr sz="1050">
                <a:solidFill>
                  <a:srgbClr val="2C3E50"/>
                </a:solidFill>
              </a:rPr>
              <a:t>Hyperparameters tuned via GridSearchCV optimizing for Area Under ROC Curve rather than misleading accuracy.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2980B9"/>
                </a:solidFill>
              </a:rPr>
              <a:t>• Leakage Elimination: </a:t>
            </a:r>
            <a:r>
              <a:rPr sz="1050">
                <a:solidFill>
                  <a:srgbClr val="2C3E50"/>
                </a:solidFill>
              </a:rPr>
              <a:t>Feature scaling and encoding transformations fit strictly within training folds, preventing validation data contamination.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2980B9"/>
                </a:solidFill>
              </a:rPr>
              <a:t>• Reproducibility: </a:t>
            </a:r>
            <a:r>
              <a:rPr sz="1050">
                <a:solidFill>
                  <a:srgbClr val="2C3E50"/>
                </a:solidFill>
              </a:rPr>
              <a:t>Random state fixed (random_state=42) across all splits, estimators, and cross-validation folds.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82B49"/>
                </a:solidFill>
              </a:rPr>
              <a:t>Hyperparameter Search Grids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16A085"/>
                </a:solidFill>
              </a:rPr>
              <a:t>• Logistic Regression: </a:t>
            </a:r>
            <a:r>
              <a:rPr sz="1050">
                <a:solidFill>
                  <a:srgbClr val="2C3E50"/>
                </a:solidFill>
              </a:rPr>
              <a:t>Inverse regularization C in {0.1, 1.0}; solver='lbfgs'; max_iter=1000; class_weight='balanced'.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16A085"/>
                </a:solidFill>
              </a:rPr>
              <a:t>• Decision Tree: </a:t>
            </a:r>
            <a:r>
              <a:rPr sz="1050">
                <a:solidFill>
                  <a:srgbClr val="2C3E50"/>
                </a:solidFill>
              </a:rPr>
              <a:t>max_depth in {4, 7}; class_weight='balanced'; criterion='gini' to avoid deep overfitted leaves.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16A085"/>
                </a:solidFill>
              </a:rPr>
              <a:t>• Random Forest: </a:t>
            </a:r>
            <a:r>
              <a:rPr sz="1050">
                <a:solidFill>
                  <a:srgbClr val="2C3E50"/>
                </a:solidFill>
              </a:rPr>
              <a:t>n_estimators in {50, 100}; max_depth in {6, 10}; class_weight='balanced'; n_jobs=-1.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16A085"/>
                </a:solidFill>
              </a:rPr>
              <a:t>• Gradient Boosting: </a:t>
            </a:r>
            <a:r>
              <a:rPr sz="1050">
                <a:solidFill>
                  <a:srgbClr val="2C3E50"/>
                </a:solidFill>
              </a:rPr>
              <a:t>n_estimators in {50, 100}; learning_rate in {0.05, 0.1}; max_depth=3-4 sequential trees.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4CDEB"/>
                </a:solidFill>
              </a:rPr>
              <a:t>PREDICTIVE ANALYTICS  |  CA3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8. Model Evaluation &amp; Benchmark Performance Across Configurations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280160"/>
          <a:ext cx="106984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8354"/>
                <a:gridCol w="1528354"/>
                <a:gridCol w="1528354"/>
                <a:gridCol w="1528354"/>
                <a:gridCol w="1528354"/>
                <a:gridCol w="1528354"/>
                <a:gridCol w="1528356"/>
              </a:tblGrid>
              <a:tr h="4267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Dataset Setup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Top Performing Model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UCI (With PageValues)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Gradient Boosting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0.9062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0.7284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0.6387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0.6806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0.9372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UCI (With PageValues)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0.8525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0.5190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0.7880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0.6258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0.9109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UCI (Without PageValues - Safe)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Gradient Boosting (High Precision)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0.8415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0.4528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0.0628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0.1103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0.7843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UCI (Without PageValues - Safe)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Logistic Regression (Production Champion)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0.6346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0.2673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0.7670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0.3965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0.7509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Retailrocket (Pre-Cart Intent)</a:t>
                      </a:r>
                    </a:p>
                  </a:txBody>
                  <a:tcPr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Gradient Boosting (Best F1)</a:t>
                      </a:r>
                    </a:p>
                  </a:txBody>
                  <a:tcPr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0.9030</a:t>
                      </a:r>
                    </a:p>
                  </a:txBody>
                  <a:tcPr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0.7837</a:t>
                      </a:r>
                    </a:p>
                  </a:txBody>
                  <a:tcPr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0.7901</a:t>
                      </a:r>
                    </a:p>
                  </a:txBody>
                  <a:tcPr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0.7869</a:t>
                      </a:r>
                    </a:p>
                  </a:txBody>
                  <a:tcPr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0.9630</a:t>
                      </a:r>
                    </a:p>
                  </a:txBody>
                  <a:tcPr>
                    <a:solidFill>
                      <a:srgbClr val="EAFAF1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Retailrocket (Pre-Cart Intent)</a:t>
                      </a:r>
                    </a:p>
                  </a:txBody>
                  <a:tcPr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Random Forest (High Recall)</a:t>
                      </a:r>
                    </a:p>
                  </a:txBody>
                  <a:tcPr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0.8728</a:t>
                      </a:r>
                    </a:p>
                  </a:txBody>
                  <a:tcPr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0.6474</a:t>
                      </a:r>
                    </a:p>
                  </a:txBody>
                  <a:tcPr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0.9633</a:t>
                      </a:r>
                    </a:p>
                  </a:txBody>
                  <a:tcPr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0.7743</a:t>
                      </a:r>
                    </a:p>
                  </a:txBody>
                  <a:tcPr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0.9619</a:t>
                      </a:r>
                    </a:p>
                  </a:txBody>
                  <a:tcPr>
                    <a:solidFill>
                      <a:srgbClr val="EAFAF1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Retailrocket (Full-Funnel Journey)</a:t>
                      </a:r>
                    </a:p>
                  </a:txBody>
                  <a:tcPr>
                    <a:solidFill>
                      <a:srgbClr val="F4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Gradient Boosting</a:t>
                      </a:r>
                    </a:p>
                  </a:txBody>
                  <a:tcPr>
                    <a:solidFill>
                      <a:srgbClr val="F4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0.9757</a:t>
                      </a:r>
                    </a:p>
                  </a:txBody>
                  <a:tcPr>
                    <a:solidFill>
                      <a:srgbClr val="F4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0.9544</a:t>
                      </a:r>
                    </a:p>
                  </a:txBody>
                  <a:tcPr>
                    <a:solidFill>
                      <a:srgbClr val="F4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0.9377</a:t>
                      </a:r>
                    </a:p>
                  </a:txBody>
                  <a:tcPr>
                    <a:solidFill>
                      <a:srgbClr val="F4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0.9460</a:t>
                      </a:r>
                    </a:p>
                  </a:txBody>
                  <a:tcPr>
                    <a:solidFill>
                      <a:srgbClr val="F4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0.9915</a:t>
                      </a:r>
                    </a:p>
                  </a:txBody>
                  <a:tcPr>
                    <a:solidFill>
                      <a:srgbClr val="F4ECF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Baseline (Both Datasets)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Dummy Classifier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0.6588 - 0.7374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0.1636 - 0.2386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0.1649 - 0.2308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0.1643 - 0.2347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0.5043 - 0.5075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5303520"/>
            <a:ext cx="1069848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394960"/>
            <a:ext cx="10332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100">
                <a:solidFill>
                  <a:srgbClr val="182B49"/>
                </a:solidFill>
              </a:rPr>
              <a:t>KEY EVALUATION TAKEAWAYS:
</a:t>
            </a:r>
            <a:r>
              <a:rPr sz="1000">
                <a:solidFill>
                  <a:srgbClr val="2C3E50"/>
                </a:solidFill>
              </a:rPr>
              <a:t>1. In UCI without PageValues, Balanced Logistic Regression captures 76.70% of buyers, acting as the ideal early-warning trigger.
2. In Retailrocket, Pre-Cart Gradient Boosting achieves 0.9630 ROC-AUC &amp; 79.01% Recall using only browsing telemetry before any cart additions occur.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4CDEB"/>
                </a:solidFill>
              </a:rPr>
              <a:t>PREDICTIVE ANALYTICS  |  CA3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9. Model Interpretation: What Drives E-Commerce Conversion?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7548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82B49"/>
                </a:solidFill>
              </a:rPr>
              <a:t>UCI Production-Safe Feature Drivers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980B9"/>
                </a:solidFill>
              </a:rPr>
              <a:t>• ProductRelated_Duration (31.2%): </a:t>
            </a:r>
            <a:r>
              <a:rPr sz="1050">
                <a:solidFill>
                  <a:srgbClr val="2C3E50"/>
                </a:solidFill>
              </a:rPr>
              <a:t>Total active time spent browsing product pages is the #1 genuine predictor of purchase intention.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980B9"/>
                </a:solidFill>
              </a:rPr>
              <a:t>• ExitRates (18.5%): </a:t>
            </a:r>
            <a:r>
              <a:rPr sz="1050">
                <a:solidFill>
                  <a:srgbClr val="2C3E50"/>
                </a:solidFill>
              </a:rPr>
              <a:t>Low exit rates strongly correlate with high buying intent; bouncing or rapidly exiting visitors rarely convert.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980B9"/>
                </a:solidFill>
              </a:rPr>
              <a:t>• ProductRelated Pageviews (14.7%): </a:t>
            </a:r>
            <a:r>
              <a:rPr sz="1050">
                <a:solidFill>
                  <a:srgbClr val="2C3E50"/>
                </a:solidFill>
              </a:rPr>
              <a:t>Exploration breadth across multiple SKUs signifies active product evaluation.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980B9"/>
                </a:solidFill>
              </a:rPr>
              <a:t>• Administrative Duration (8.9%): </a:t>
            </a:r>
            <a:r>
              <a:rPr sz="1050">
                <a:solidFill>
                  <a:srgbClr val="2C3E50"/>
                </a:solidFill>
              </a:rPr>
              <a:t>Time spent checking shipping policies, account details, or terms signifies intent to finalize order.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980B9"/>
                </a:solidFill>
              </a:rPr>
              <a:t>• Month_Nov (7.4%): </a:t>
            </a:r>
            <a:r>
              <a:rPr sz="1050">
                <a:solidFill>
                  <a:srgbClr val="2C3E50"/>
                </a:solidFill>
              </a:rPr>
              <a:t>Seasonal holiday promotional peak substantially lifts visitor baseline propensity.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82B49"/>
                </a:solidFill>
              </a:rPr>
              <a:t>Retailrocket Pre-Cart Clickstream Drivers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6A085"/>
                </a:solidFill>
              </a:rPr>
              <a:t>• views_per_item (38.6%): </a:t>
            </a:r>
            <a:r>
              <a:rPr sz="1050">
                <a:solidFill>
                  <a:srgbClr val="2C3E50"/>
                </a:solidFill>
              </a:rPr>
              <a:t>Re-visitation depth: repeatedly returning to the same item indicates deliberative decision-making.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6A085"/>
                </a:solidFill>
              </a:rPr>
              <a:t>• duration_min (27.4%): </a:t>
            </a:r>
            <a:r>
              <a:rPr sz="1050">
                <a:solidFill>
                  <a:srgbClr val="2C3E50"/>
                </a:solidFill>
              </a:rPr>
              <a:t>Active session duration: prolonged exploration strongly differentiates buyers from transient bounces.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6A085"/>
                </a:solidFill>
              </a:rPr>
              <a:t>• view_intensity (19.8%): </a:t>
            </a:r>
            <a:r>
              <a:rPr sz="1050">
                <a:solidFill>
                  <a:srgbClr val="2C3E50"/>
                </a:solidFill>
              </a:rPr>
              <a:t>Browsing velocity: rapid page navigation per minute indicates urgent consumer evaluation.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6A085"/>
                </a:solidFill>
              </a:rPr>
              <a:t>• unique_items (9.2%): </a:t>
            </a:r>
            <a:r>
              <a:rPr sz="1050">
                <a:solidFill>
                  <a:srgbClr val="2C3E50"/>
                </a:solidFill>
              </a:rPr>
              <a:t>Targeted vs broad catalog exploration: buyers focus on a tight consideration set.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6A085"/>
                </a:solidFill>
              </a:rPr>
              <a:t>• cart_to_view_ratio (Full-Funnel): </a:t>
            </a:r>
            <a:r>
              <a:rPr sz="1050">
                <a:solidFill>
                  <a:srgbClr val="2C3E50"/>
                </a:solidFill>
              </a:rPr>
              <a:t>When cart actions are included, cart additions dominate the funnel with &gt;60% split importance.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4CDEB"/>
                </a:solidFill>
              </a:rPr>
              <a:t>PREDICTIVE ANALYTICS  |  CA3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10. Real-Time Inference &amp; Automated Dynamic Intervention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10698480" cy="1188720"/>
          </a:xfrm>
          <a:prstGeom prst="round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332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4CDEB"/>
                </a:solidFill>
              </a:rPr>
              <a:t>REAL-TIME PREDICTIVE DECISION ARCHITECTURE</a:t>
            </a:r>
          </a:p>
          <a:p>
            <a:r>
              <a:rPr sz="1150" b="1">
                <a:solidFill>
                  <a:srgbClr val="FFFFFF"/>
                </a:solidFill>
              </a:rPr>
              <a:t>Clickstream Telemetry Stream  --&gt;  Feature Scaling (&lt;5ms)  --&gt;  Model Inference (&lt;10ms)  --&gt;  Threshold Engine  --&gt;  Dynamic Business Action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5120640" cy="3749039"/>
          </a:xfrm>
          <a:prstGeom prst="round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82B49"/>
                </a:solidFill>
              </a:rPr>
              <a:t>Live Case 1: Macro Session Visitor (UCI)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2980B9"/>
                </a:solidFill>
              </a:rPr>
              <a:t>• Visitor Session Profile: </a:t>
            </a:r>
            <a:r>
              <a:rPr sz="1050">
                <a:solidFill>
                  <a:srgbClr val="2C3E50"/>
                </a:solidFill>
              </a:rPr>
              <a:t>30 Product Pages, 980s active time, Nov session, New Visitor.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2980B9"/>
                </a:solidFill>
              </a:rPr>
              <a:t>• Leakage-Free Score: </a:t>
            </a:r>
            <a:r>
              <a:rPr sz="1050">
                <a:solidFill>
                  <a:srgbClr val="2C3E50"/>
                </a:solidFill>
              </a:rPr>
              <a:t>Predicted Purchase Probability = 38.87%.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2980B9"/>
                </a:solidFill>
              </a:rPr>
              <a:t>• Intervention Threshold: </a:t>
            </a:r>
            <a:r>
              <a:rPr sz="1050">
                <a:solidFill>
                  <a:srgbClr val="2C3E50"/>
                </a:solidFill>
              </a:rPr>
              <a:t>Crosses High-Intent Threshold (P &gt;= 35%).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2980B9"/>
                </a:solidFill>
              </a:rPr>
              <a:t>• Dynamic Action Triggered: </a:t>
            </a:r>
            <a:r>
              <a:rPr sz="1050">
                <a:solidFill>
                  <a:srgbClr val="2C3E50"/>
                </a:solidFill>
              </a:rPr>
              <a:t>Deploy timed 10% instant checkout voucher overlay to secure transaction before tab closure.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2980B9"/>
                </a:solidFill>
              </a:rPr>
              <a:t>• Business ROI: </a:t>
            </a:r>
            <a:r>
              <a:rPr sz="1050">
                <a:solidFill>
                  <a:srgbClr val="2C3E50"/>
                </a:solidFill>
              </a:rPr>
              <a:t>Converts a high-intent fence-sitter into confirmed revenue.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651760"/>
            <a:ext cx="5212080" cy="3749039"/>
          </a:xfrm>
          <a:prstGeom prst="round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7432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82B49"/>
                </a:solidFill>
              </a:rPr>
              <a:t>Live Case 2: Clickstream Visitor (Retailrocket)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6A085"/>
                </a:solidFill>
              </a:rPr>
              <a:t>• Clickstream Profile: </a:t>
            </a:r>
            <a:r>
              <a:rPr sz="1050">
                <a:solidFill>
                  <a:srgbClr val="2C3E50"/>
                </a:solidFill>
              </a:rPr>
              <a:t>12 Product Views, 7 Unique Items, 8.5 min dwell time (pre-cart).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6A085"/>
                </a:solidFill>
              </a:rPr>
              <a:t>• Pre-Cart Score: </a:t>
            </a:r>
            <a:r>
              <a:rPr sz="1050">
                <a:solidFill>
                  <a:srgbClr val="2C3E50"/>
                </a:solidFill>
              </a:rPr>
              <a:t>Predicted Purchase Probability = 20.21%.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6A085"/>
                </a:solidFill>
              </a:rPr>
              <a:t>• Intervention Threshold: </a:t>
            </a:r>
            <a:r>
              <a:rPr sz="1050">
                <a:solidFill>
                  <a:srgbClr val="2C3E50"/>
                </a:solidFill>
              </a:rPr>
              <a:t>Exploratory Consideration Stage (15% &lt;= P &lt; 30%).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6A085"/>
                </a:solidFill>
              </a:rPr>
              <a:t>• Dynamic Action Triggered: </a:t>
            </a:r>
            <a:r>
              <a:rPr sz="1050">
                <a:solidFill>
                  <a:srgbClr val="2C3E50"/>
                </a:solidFill>
              </a:rPr>
              <a:t>Display related trending cross-category items &amp; free shipping threshold progress bar.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6A085"/>
                </a:solidFill>
              </a:rPr>
              <a:t>• Business ROI: </a:t>
            </a:r>
            <a:r>
              <a:rPr sz="1050">
                <a:solidFill>
                  <a:srgbClr val="2C3E50"/>
                </a:solidFill>
              </a:rPr>
              <a:t>Nudges browsing visitor toward adding their first item to cart.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4CDEB"/>
                </a:solidFill>
              </a:rPr>
              <a:t>PREDICTIVE ANALYTICS  |  CA3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11. Conclusion, Takeaways &amp; Future Directions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7548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82B49"/>
                </a:solidFill>
              </a:rPr>
              <a:t>Summary of Project Contributions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2980B9"/>
                </a:solidFill>
              </a:rPr>
              <a:t>• Rigorous KDD Implementation: </a:t>
            </a:r>
            <a:r>
              <a:rPr sz="1050">
                <a:solidFill>
                  <a:srgbClr val="2C3E50"/>
                </a:solidFill>
              </a:rPr>
              <a:t>Demonstrated all 5 KDD stages on two real-world datasets spanning 2.75M interactions.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2980B9"/>
                </a:solidFill>
              </a:rPr>
              <a:t>• Data Leakage Resolved: </a:t>
            </a:r>
            <a:r>
              <a:rPr sz="1050">
                <a:solidFill>
                  <a:srgbClr val="2C3E50"/>
                </a:solidFill>
              </a:rPr>
              <a:t>Proven that retrospective PageValues distorts evaluation; built genuine leakage-free pipelines.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2980B9"/>
                </a:solidFill>
              </a:rPr>
              <a:t>• Benchmark Performance: </a:t>
            </a:r>
            <a:r>
              <a:rPr sz="1050">
                <a:solidFill>
                  <a:srgbClr val="2C3E50"/>
                </a:solidFill>
              </a:rPr>
              <a:t>Balanced Logistic Regression captures 76.7% of UCI buyers; Retailrocket Pre-Cart model achieves 0.963 ROC-AUC.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2980B9"/>
                </a:solidFill>
              </a:rPr>
              <a:t>• Business Relevance: </a:t>
            </a:r>
            <a:r>
              <a:rPr sz="1050">
                <a:solidFill>
                  <a:srgbClr val="2C3E50"/>
                </a:solidFill>
              </a:rPr>
              <a:t>Built an automated real-time intervention engine for dynamic checkout incentives.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F5F7FA"/>
          </a:solidFill>
          <a:ln>
            <a:solidFill>
              <a:srgbClr val="F5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82B49"/>
                </a:solidFill>
              </a:rPr>
              <a:t>Limitations &amp; Future Work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16A085"/>
                </a:solidFill>
              </a:rPr>
              <a:t>• Cross-Device Stitching: </a:t>
            </a:r>
            <a:r>
              <a:rPr sz="1050">
                <a:solidFill>
                  <a:srgbClr val="2C3E50"/>
                </a:solidFill>
              </a:rPr>
              <a:t>Current telemetry cannot link mobile exploration with desktop checkout; future work should integrate graph identity resolution.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16A085"/>
                </a:solidFill>
              </a:rPr>
              <a:t>• Deep Sequential Learning: </a:t>
            </a:r>
            <a:r>
              <a:rPr sz="1050">
                <a:solidFill>
                  <a:srgbClr val="2C3E50"/>
                </a:solidFill>
              </a:rPr>
              <a:t>Explore Transformer-based session architectures (e.g. BERT4Rec) to model item-to-item transition embeddings.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16A085"/>
                </a:solidFill>
              </a:rPr>
              <a:t>• Reinforcement Learning: </a:t>
            </a:r>
            <a:r>
              <a:rPr sz="1050">
                <a:solidFill>
                  <a:srgbClr val="2C3E50"/>
                </a:solidFill>
              </a:rPr>
              <a:t>Deploy an online Multi-Armed Bandit (MAB) to learn optimal real-time dynamic discount values without margin erosion.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16A085"/>
                </a:solidFill>
              </a:rPr>
              <a:t>• Multi-Modal Integration: </a:t>
            </a:r>
            <a:r>
              <a:rPr sz="1050">
                <a:solidFill>
                  <a:srgbClr val="2C3E50"/>
                </a:solidFill>
              </a:rPr>
              <a:t>Incorporate product thumbnail image embeddings and customer review sentiment into the clickstream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