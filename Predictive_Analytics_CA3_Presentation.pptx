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55EE4D3-DE1A-ADD7-260B-C2DE8D9FE075}">
          <p14:sldIdLst>
            <p14:sldId id="256"/>
            <p14:sldId id="257"/>
            <p14:sldId id="258"/>
          </p14:sldIdLst>
        </p14:section>
        <p14:section name="Method" id="{E6AC4DF4-5567-7B8E-5809-9F6DB69F37BA}">
          <p14:sldIdLst>
            <p14:sldId id="259"/>
            <p14:sldId id="260"/>
            <p14:sldId id="261"/>
            <p14:sldId id="262"/>
          </p14:sldIdLst>
        </p14:section>
        <p14:section name="Results" id="{E0541B7B-6710-DF59-4772-44DF5363C351}">
          <p14:sldIdLst>
            <p14:sldId id="263"/>
            <p14:sldId id="264"/>
            <p14:sldId id="265"/>
          </p14:sldIdLst>
        </p14:section>
        <p14:section name="Wrap-up" id="{BB5ACF96-663E-8749-E079-E115B6DB41CD}">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2" d="100"/>
          <a:sy n="132" d="100"/>
        </p:scale>
        <p:origin x="126"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2263A"/>
                </a:solidFill>
                <a:latin typeface="+mn-lt"/>
              </a:defRPr>
            </a:pPr>
            <a:r>
              <a:rPr sz="1400" b="0" i="0" u="none" strike="noStrike">
                <a:solidFill>
                  <a:srgbClr val="12263A"/>
                </a:solidFill>
                <a:latin typeface="+mn-lt"/>
              </a:rPr>
              <a:t>ROC-AUC</a:t>
            </a:r>
          </a:p>
        </c:rich>
      </c:tx>
      <c:overlay val="0"/>
    </c:title>
    <c:autoTitleDeleted val="0"/>
    <c:plotArea>
      <c:layout/>
      <c:barChart>
        <c:barDir val="col"/>
        <c:grouping val="clustered"/>
        <c:varyColors val="0"/>
        <c:ser>
          <c:idx val="0"/>
          <c:order val="0"/>
          <c:tx>
            <c:strRef>
              <c:f>Sheet1!$B$1</c:f>
              <c:strCache>
                <c:ptCount val="1"/>
                <c:pt idx="0">
                  <c:v>With PageValues</c:v>
                </c:pt>
              </c:strCache>
            </c:strRef>
          </c:tx>
          <c:spPr>
            <a:solidFill>
              <a:srgbClr val="1B998B"/>
            </a:solidFill>
            <a:effectLst/>
          </c:spPr>
          <c:invertIfNegative val="0"/>
          <c:dLbls>
            <c:numFmt formatCode="0.000" sourceLinked="0"/>
            <c:spPr>
              <a:noFill/>
              <a:ln>
                <a:noFill/>
              </a:ln>
              <a:effectLst/>
            </c:spPr>
            <c:txPr>
              <a:bodyPr/>
              <a:lstStyle/>
              <a:p>
                <a:pPr>
                  <a:defRPr sz="1000" b="0" i="0" u="none" strike="noStrike">
                    <a:solidFill>
                      <a:srgbClr val="1226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Decision Tree</c:v>
                </c:pt>
                <c:pt idx="2">
                  <c:v>Random Forest</c:v>
                </c:pt>
                <c:pt idx="3">
                  <c:v>Grad. Boosting</c:v>
                </c:pt>
              </c:strCache>
            </c:strRef>
          </c:cat>
          <c:val>
            <c:numRef>
              <c:f>Sheet1!$B$2:$B$5</c:f>
              <c:numCache>
                <c:formatCode>General</c:formatCode>
                <c:ptCount val="4"/>
                <c:pt idx="0">
                  <c:v>0.91100000000000003</c:v>
                </c:pt>
                <c:pt idx="1">
                  <c:v>0.92</c:v>
                </c:pt>
                <c:pt idx="2">
                  <c:v>0.92900000000000005</c:v>
                </c:pt>
                <c:pt idx="3">
                  <c:v>0.93700000000000006</c:v>
                </c:pt>
              </c:numCache>
            </c:numRef>
          </c:val>
          <c:extLst>
            <c:ext xmlns:c16="http://schemas.microsoft.com/office/drawing/2014/chart" uri="{C3380CC4-5D6E-409C-BE32-E72D297353CC}">
              <c16:uniqueId val="{00000000-B7F6-4C98-9F07-F074313F8D5E}"/>
            </c:ext>
          </c:extLst>
        </c:ser>
        <c:ser>
          <c:idx val="1"/>
          <c:order val="1"/>
          <c:tx>
            <c:strRef>
              <c:f>Sheet1!$C$1</c:f>
              <c:strCache>
                <c:ptCount val="1"/>
                <c:pt idx="0">
                  <c:v>Without PageValues</c:v>
                </c:pt>
              </c:strCache>
            </c:strRef>
          </c:tx>
          <c:spPr>
            <a:solidFill>
              <a:srgbClr val="E8A33D"/>
            </a:solidFill>
            <a:effectLst/>
          </c:spPr>
          <c:invertIfNegative val="0"/>
          <c:dLbls>
            <c:numFmt formatCode="0.000" sourceLinked="0"/>
            <c:spPr>
              <a:noFill/>
              <a:ln>
                <a:noFill/>
              </a:ln>
              <a:effectLst/>
            </c:spPr>
            <c:txPr>
              <a:bodyPr/>
              <a:lstStyle/>
              <a:p>
                <a:pPr>
                  <a:defRPr sz="1000" b="0" i="0" u="none" strike="noStrike">
                    <a:solidFill>
                      <a:srgbClr val="1226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Decision Tree</c:v>
                </c:pt>
                <c:pt idx="2">
                  <c:v>Random Forest</c:v>
                </c:pt>
                <c:pt idx="3">
                  <c:v>Grad. Boosting</c:v>
                </c:pt>
              </c:strCache>
            </c:strRef>
          </c:cat>
          <c:val>
            <c:numRef>
              <c:f>Sheet1!$C$2:$C$5</c:f>
              <c:numCache>
                <c:formatCode>General</c:formatCode>
                <c:ptCount val="4"/>
                <c:pt idx="0">
                  <c:v>0.751</c:v>
                </c:pt>
                <c:pt idx="1">
                  <c:v>0.746</c:v>
                </c:pt>
                <c:pt idx="2">
                  <c:v>0.76800000000000002</c:v>
                </c:pt>
                <c:pt idx="3">
                  <c:v>0.78400000000000003</c:v>
                </c:pt>
              </c:numCache>
            </c:numRef>
          </c:val>
          <c:extLst>
            <c:ext xmlns:c16="http://schemas.microsoft.com/office/drawing/2014/chart" uri="{C3380CC4-5D6E-409C-BE32-E72D297353CC}">
              <c16:uniqueId val="{00000001-B7F6-4C98-9F07-F074313F8D5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2263A"/>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6EA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2263A"/>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000">
              <a:solidFill>
                <a:srgbClr val="1226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2263A"/>
                </a:solidFill>
                <a:latin typeface="+mn-lt"/>
              </a:defRPr>
            </a:pPr>
            <a:r>
              <a:rPr sz="1400" b="0" i="0" u="none" strike="noStrike">
                <a:solidFill>
                  <a:srgbClr val="12263A"/>
                </a:solidFill>
                <a:latin typeface="+mn-lt"/>
              </a:rPr>
              <a:t>PR-AUC</a:t>
            </a:r>
          </a:p>
        </c:rich>
      </c:tx>
      <c:overlay val="0"/>
    </c:title>
    <c:autoTitleDeleted val="0"/>
    <c:plotArea>
      <c:layout/>
      <c:barChart>
        <c:barDir val="col"/>
        <c:grouping val="clustered"/>
        <c:varyColors val="0"/>
        <c:ser>
          <c:idx val="0"/>
          <c:order val="0"/>
          <c:tx>
            <c:strRef>
              <c:f>Sheet1!$B$1</c:f>
              <c:strCache>
                <c:ptCount val="1"/>
                <c:pt idx="0">
                  <c:v>With PageValues</c:v>
                </c:pt>
              </c:strCache>
            </c:strRef>
          </c:tx>
          <c:spPr>
            <a:solidFill>
              <a:srgbClr val="1B998B"/>
            </a:solidFill>
            <a:effectLst/>
          </c:spPr>
          <c:invertIfNegative val="0"/>
          <c:dLbls>
            <c:numFmt formatCode="0.000" sourceLinked="0"/>
            <c:spPr>
              <a:noFill/>
              <a:ln>
                <a:noFill/>
              </a:ln>
              <a:effectLst/>
            </c:spPr>
            <c:txPr>
              <a:bodyPr/>
              <a:lstStyle/>
              <a:p>
                <a:pPr>
                  <a:defRPr sz="1000" b="0" i="0" u="none" strike="noStrike">
                    <a:solidFill>
                      <a:srgbClr val="1226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Decision Tree</c:v>
                </c:pt>
                <c:pt idx="2">
                  <c:v>Random Forest</c:v>
                </c:pt>
                <c:pt idx="3">
                  <c:v>Grad. Boosting</c:v>
                </c:pt>
              </c:strCache>
            </c:strRef>
          </c:cat>
          <c:val>
            <c:numRef>
              <c:f>Sheet1!$B$2:$B$5</c:f>
              <c:numCache>
                <c:formatCode>General</c:formatCode>
                <c:ptCount val="4"/>
                <c:pt idx="0">
                  <c:v>0.66200000000000003</c:v>
                </c:pt>
                <c:pt idx="1">
                  <c:v>0.71799999999999997</c:v>
                </c:pt>
                <c:pt idx="2">
                  <c:v>0.72499999999999998</c:v>
                </c:pt>
                <c:pt idx="3">
                  <c:v>0.74399999999999999</c:v>
                </c:pt>
              </c:numCache>
            </c:numRef>
          </c:val>
          <c:extLst>
            <c:ext xmlns:c16="http://schemas.microsoft.com/office/drawing/2014/chart" uri="{C3380CC4-5D6E-409C-BE32-E72D297353CC}">
              <c16:uniqueId val="{00000000-3E3D-495F-91E3-34ADB7EC83F0}"/>
            </c:ext>
          </c:extLst>
        </c:ser>
        <c:ser>
          <c:idx val="1"/>
          <c:order val="1"/>
          <c:tx>
            <c:strRef>
              <c:f>Sheet1!$C$1</c:f>
              <c:strCache>
                <c:ptCount val="1"/>
                <c:pt idx="0">
                  <c:v>Without PageValues</c:v>
                </c:pt>
              </c:strCache>
            </c:strRef>
          </c:tx>
          <c:spPr>
            <a:solidFill>
              <a:srgbClr val="E8A33D"/>
            </a:solidFill>
            <a:effectLst/>
          </c:spPr>
          <c:invertIfNegative val="0"/>
          <c:dLbls>
            <c:numFmt formatCode="0.000" sourceLinked="0"/>
            <c:spPr>
              <a:noFill/>
              <a:ln>
                <a:noFill/>
              </a:ln>
              <a:effectLst/>
            </c:spPr>
            <c:txPr>
              <a:bodyPr/>
              <a:lstStyle/>
              <a:p>
                <a:pPr>
                  <a:defRPr sz="1000" b="0" i="0" u="none" strike="noStrike">
                    <a:solidFill>
                      <a:srgbClr val="1226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Decision Tree</c:v>
                </c:pt>
                <c:pt idx="2">
                  <c:v>Random Forest</c:v>
                </c:pt>
                <c:pt idx="3">
                  <c:v>Grad. Boosting</c:v>
                </c:pt>
              </c:strCache>
            </c:strRef>
          </c:cat>
          <c:val>
            <c:numRef>
              <c:f>Sheet1!$C$2:$C$5</c:f>
              <c:numCache>
                <c:formatCode>General</c:formatCode>
                <c:ptCount val="4"/>
                <c:pt idx="0">
                  <c:v>0.318</c:v>
                </c:pt>
                <c:pt idx="1">
                  <c:v>0.35</c:v>
                </c:pt>
                <c:pt idx="2">
                  <c:v>0.34499999999999997</c:v>
                </c:pt>
                <c:pt idx="3">
                  <c:v>0.35599999999999998</c:v>
                </c:pt>
              </c:numCache>
            </c:numRef>
          </c:val>
          <c:extLst>
            <c:ext xmlns:c16="http://schemas.microsoft.com/office/drawing/2014/chart" uri="{C3380CC4-5D6E-409C-BE32-E72D297353CC}">
              <c16:uniqueId val="{00000001-3E3D-495F-91E3-34ADB7EC83F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2263A"/>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6EA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2263A"/>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000">
              <a:solidFill>
                <a:srgbClr val="1226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2263A"/>
                </a:solidFill>
                <a:latin typeface="+mn-lt"/>
              </a:defRPr>
            </a:pPr>
            <a:r>
              <a:rPr sz="1400" b="0" i="0" u="none" strike="noStrike">
                <a:solidFill>
                  <a:srgbClr val="12263A"/>
                </a:solidFill>
                <a:latin typeface="+mn-lt"/>
              </a:rPr>
              <a:t>With PageValues</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1B998B"/>
            </a:solidFill>
            <a:effectLst/>
          </c:spPr>
          <c:invertIfNegative val="0"/>
          <c:dLbls>
            <c:numFmt formatCode="0.000" sourceLinked="0"/>
            <c:spPr>
              <a:noFill/>
              <a:ln>
                <a:noFill/>
              </a:ln>
              <a:effectLst/>
            </c:spPr>
            <c:txPr>
              <a:bodyPr/>
              <a:lstStyle/>
              <a:p>
                <a:pPr>
                  <a:defRPr sz="1000" b="0" i="0" u="none" strike="noStrike">
                    <a:solidFill>
                      <a:srgbClr val="1226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PageValues</c:v>
                </c:pt>
                <c:pt idx="1">
                  <c:v>Month_Nov</c:v>
                </c:pt>
                <c:pt idx="2">
                  <c:v>BounceRates</c:v>
                </c:pt>
                <c:pt idx="3">
                  <c:v>ProductRelated_Duration</c:v>
                </c:pt>
                <c:pt idx="4">
                  <c:v>Administrative</c:v>
                </c:pt>
              </c:strCache>
            </c:strRef>
          </c:cat>
          <c:val>
            <c:numRef>
              <c:f>Sheet1!$B$2:$B$6</c:f>
              <c:numCache>
                <c:formatCode>General</c:formatCode>
                <c:ptCount val="5"/>
                <c:pt idx="0">
                  <c:v>0.77800000000000002</c:v>
                </c:pt>
                <c:pt idx="1">
                  <c:v>4.7E-2</c:v>
                </c:pt>
                <c:pt idx="2">
                  <c:v>4.2999999999999997E-2</c:v>
                </c:pt>
                <c:pt idx="3">
                  <c:v>2.9000000000000001E-2</c:v>
                </c:pt>
                <c:pt idx="4">
                  <c:v>2.8000000000000001E-2</c:v>
                </c:pt>
              </c:numCache>
            </c:numRef>
          </c:val>
          <c:extLst>
            <c:ext xmlns:c16="http://schemas.microsoft.com/office/drawing/2014/chart" uri="{C3380CC4-5D6E-409C-BE32-E72D297353CC}">
              <c16:uniqueId val="{00000000-7B4E-419E-B4EF-43D8CA74C497}"/>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2263A"/>
                </a:solidFill>
                <a:latin typeface="+mn-lt"/>
              </a:defRPr>
            </a:pPr>
            <a:endParaRPr lang="en-US"/>
          </a:p>
        </c:txPr>
        <c:crossAx val="2094734552"/>
        <c:crosses val="autoZero"/>
        <c:auto val="1"/>
        <c:lblAlgn val="ctr"/>
        <c:lblOffset val="100"/>
        <c:noMultiLvlLbl val="1"/>
      </c:catAx>
      <c:valAx>
        <c:axId val="2094734552"/>
        <c:scaling>
          <c:orientation val="minMax"/>
          <c:max val="0.9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2263A"/>
                </a:solidFill>
                <a:latin typeface="+mn-lt"/>
              </a:defRPr>
            </a:pPr>
            <a:r>
              <a:rPr sz="1400" b="0" i="0" u="none" strike="noStrike">
                <a:solidFill>
                  <a:srgbClr val="12263A"/>
                </a:solidFill>
                <a:latin typeface="+mn-lt"/>
              </a:rPr>
              <a:t>Without PageValues</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E8A33D"/>
            </a:solidFill>
            <a:effectLst/>
          </c:spPr>
          <c:invertIfNegative val="0"/>
          <c:dLbls>
            <c:numFmt formatCode="0.000" sourceLinked="0"/>
            <c:spPr>
              <a:noFill/>
              <a:ln>
                <a:noFill/>
              </a:ln>
              <a:effectLst/>
            </c:spPr>
            <c:txPr>
              <a:bodyPr/>
              <a:lstStyle/>
              <a:p>
                <a:pPr>
                  <a:defRPr sz="1000" b="0" i="0" u="none" strike="noStrike">
                    <a:solidFill>
                      <a:srgbClr val="1226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ExitRates</c:v>
                </c:pt>
                <c:pt idx="1">
                  <c:v>ProductRelated_Duration</c:v>
                </c:pt>
                <c:pt idx="2">
                  <c:v>Month_Nov</c:v>
                </c:pt>
                <c:pt idx="3">
                  <c:v>Administrative</c:v>
                </c:pt>
                <c:pt idx="4">
                  <c:v>ProductRelated</c:v>
                </c:pt>
              </c:strCache>
            </c:strRef>
          </c:cat>
          <c:val>
            <c:numRef>
              <c:f>Sheet1!$B$2:$B$6</c:f>
              <c:numCache>
                <c:formatCode>General</c:formatCode>
                <c:ptCount val="5"/>
                <c:pt idx="0">
                  <c:v>0.34</c:v>
                </c:pt>
                <c:pt idx="1">
                  <c:v>0.16200000000000001</c:v>
                </c:pt>
                <c:pt idx="2">
                  <c:v>0.115</c:v>
                </c:pt>
                <c:pt idx="3">
                  <c:v>6.9000000000000006E-2</c:v>
                </c:pt>
                <c:pt idx="4">
                  <c:v>5.3999999999999999E-2</c:v>
                </c:pt>
              </c:numCache>
            </c:numRef>
          </c:val>
          <c:extLst>
            <c:ext xmlns:c16="http://schemas.microsoft.com/office/drawing/2014/chart" uri="{C3380CC4-5D6E-409C-BE32-E72D297353CC}">
              <c16:uniqueId val="{00000000-48F5-4D3F-96DA-D94C8FCFC821}"/>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2263A"/>
                </a:solidFill>
                <a:latin typeface="+mn-lt"/>
              </a:defRPr>
            </a:pPr>
            <a:endParaRPr lang="en-US"/>
          </a:p>
        </c:txPr>
        <c:crossAx val="2094734552"/>
        <c:crosses val="autoZero"/>
        <c:auto val="1"/>
        <c:lblAlgn val="ctr"/>
        <c:lblOffset val="100"/>
        <c:noMultiLvlLbl val="1"/>
      </c:catAx>
      <c:valAx>
        <c:axId val="2094734552"/>
        <c:scaling>
          <c:orientation val="minMax"/>
          <c:max val="0.42"/>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185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sentence: I built a model that predicts whether an online shopping session ends in a purchase, and I tested how much of its accuracy depends on one suspicious feature called PageValues. Roadmap: problem, data, preparation, modelling, evaluation, results, conclusion.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framing: conversion is low, so targeted offers or live chat only pay off if we can find the right visitors in time. The class imbalance (15.5% buyers) is the first technical challenge. The second, and the focus of my project, is checking whether the model's skill is real or comes from a leaky feature.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UCI Machine Learning Repository, one row per browsing session. Features fall into six groups. Two of them need a comment: BounceRates and ExitRates are 0.91 correlated, and PageValues is derived from purchase value, which I come back to. The target Revenue is boolean.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severe imbalance, so accuracy would be misleading and I use ROC-AUC, PR-AUC and F1. Right chart: strong seasonality, with November highest. New visitors convert more than returning ones. PageValues has by far the strongest correlation with the target, which is a warning sign rather than good news, because it is computed from purchase value.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were no missing values, so no imputation. Duplicates were dropped because identical rows could land in both train and test. Imbalance is handled in the models through class weights, not by resampling, so the test set keeps its real distribution.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KDD: selection, pre-processing, transformation, mining, evaluation. The distinctive part is the two-configuration experiment. Same splits, same folds, same seeds; only PageValues differs, so any gap is attributable to that feature.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 families from interpretable to powerful. Hyperparameters chosen by cross-validated ROC-AUC on the training set only. Note the big drop in CV AUC for every model when PageValues is removed, which already hints at the result. Gradient Boosting in scikit-learn has no class_weight option, which matters for recall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 ROC-AUC for ranking quality and PR-AUC for how well the rare positive class is found, plus F1 at the default threshold. All models beat the dummy baseline. With PageValues the ranking among models is Gradient Boosting, Random Forest, Decision Tree, Logistic Regression. Without it, every bar drops and PR-AUC falls hardest.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for the best model. ROC-AUC falls 16 percent, PR-AUC 52 percent, F1 84 percent. The confusion matrices show why F1 collapses: without PageValues, Gradient Boosting at the 0.5 threshold almost never predicts a purchase. Class-weighted Random Forest and Logistic Regression keep F1 near 0.40 without PageValues, so threshold tuning is the obvious fix.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backs up the leakage story. With PageValues one feature dominates. Without it, behaviour signals take over: exit rate, time on product pages, number of administrative pages and the month. Logistic Regression agrees: exit rate has a negative coefficient of about minus 1.4, and November is positive.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points. One: the model works and beats the baseline. Two: much of the apparent skill comes from PageValues, so the leakage-free numbers are the honest expectation for live use. Three: the biggest improvement left is threshold tuning for recall.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marL="0" indent="0">
              <a:buNone/>
            </a:pPr>
            <a:r>
              <a:rPr lang="en-US" sz="1000" dirty="0">
                <a:solidFill>
                  <a:schemeClr val="tx2"/>
                </a:solidFill>
              </a:rPr>
              <a:t>Predictive Analytics CA3  |  Online shoppers' purchasing intention</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188720"/>
            <a:ext cx="7863840" cy="146304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743200"/>
            <a:ext cx="7315200" cy="82296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188720"/>
            <a:ext cx="7863840" cy="1463040"/>
          </a:xfrm>
          <a:prstGeom prst="rect">
            <a:avLst/>
          </a:prstGeom>
          <a:noFill/>
          <a:ln/>
        </p:spPr>
        <p:txBody>
          <a:bodyPr wrap="square" lIns="0" tIns="0" rIns="0" bIns="0" rtlCol="0" anchor="t"/>
          <a:lstStyle/>
          <a:p>
            <a:pPr marL="0" indent="0" algn="l">
              <a:buNone/>
            </a:pPr>
            <a:r>
              <a:rPr lang="en-US" sz="3800" b="1" dirty="0">
                <a:solidFill>
                  <a:schemeClr val="bg1"/>
                </a:solidFill>
              </a:rPr>
              <a:t>Predicting Online Shoppers' Purchasing Intention</a:t>
            </a:r>
            <a:endParaRPr lang="en-US" sz="3800" dirty="0"/>
          </a:p>
        </p:txBody>
      </p:sp>
      <p:sp>
        <p:nvSpPr>
          <p:cNvPr id="3" name="Text 0"/>
          <p:cNvSpPr>
            <a:spLocks noGrp="1"/>
          </p:cNvSpPr>
          <p:nvPr>
            <p:ph type="body" idx="101" hasCustomPrompt="1"/>
          </p:nvPr>
        </p:nvSpPr>
        <p:spPr>
          <a:xfrm>
            <a:off x="640080" y="2743200"/>
            <a:ext cx="7315200" cy="822960"/>
          </a:xfrm>
          <a:prstGeom prst="rect">
            <a:avLst/>
          </a:prstGeom>
          <a:noFill/>
          <a:ln/>
        </p:spPr>
        <p:txBody>
          <a:bodyPr wrap="square" lIns="0" tIns="0" rIns="0" bIns="0" rtlCol="0" anchor="t"/>
          <a:lstStyle/>
          <a:p>
            <a:pPr marL="0" indent="0" algn="l">
              <a:buNone/>
            </a:pPr>
            <a:r>
              <a:rPr lang="en-US" sz="1800" dirty="0">
                <a:solidFill>
                  <a:schemeClr val="bg2"/>
                </a:solidFill>
              </a:rPr>
              <a:t>A KDD-based classification study and a data-leakage test of the PageValues feature</a:t>
            </a:r>
            <a:endParaRPr lang="en-US" sz="1800" dirty="0"/>
          </a:p>
        </p:txBody>
      </p:sp>
      <p:sp>
        <p:nvSpPr>
          <p:cNvPr id="4" name="Text 2"/>
          <p:cNvSpPr txBox="1"/>
          <p:nvPr/>
        </p:nvSpPr>
        <p:spPr>
          <a:xfrm>
            <a:off x="640080" y="4206240"/>
            <a:ext cx="7315200" cy="365760"/>
          </a:xfrm>
          <a:prstGeom prst="rect">
            <a:avLst/>
          </a:prstGeom>
          <a:noFill/>
          <a:ln/>
        </p:spPr>
        <p:txBody>
          <a:bodyPr wrap="square" lIns="0" tIns="0" rIns="0" bIns="0" rtlCol="0" anchor="t"/>
          <a:lstStyle/>
          <a:p>
            <a:pPr marL="0" indent="0">
              <a:buNone/>
            </a:pPr>
            <a:r>
              <a:rPr lang="en-US" sz="1400" dirty="0">
                <a:solidFill>
                  <a:schemeClr val="accent2"/>
                </a:solidFill>
              </a:rPr>
              <a:t>Kshitij Bhele  |  Predictive Analytics  |  CA3 Individual Project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Problem statement</a:t>
            </a:r>
            <a:endParaRPr lang="en-US" sz="3200" dirty="0"/>
          </a:p>
        </p:txBody>
      </p:sp>
      <p:sp>
        <p:nvSpPr>
          <p:cNvPr id="3" name="business card"/>
          <p:cNvSpPr/>
          <p:nvPr/>
        </p:nvSpPr>
        <p:spPr>
          <a:xfrm>
            <a:off x="457200" y="1188720"/>
            <a:ext cx="4846320" cy="1371600"/>
          </a:xfrm>
          <a:prstGeom prst="roundRect">
            <a:avLst>
              <a:gd name="adj" fmla="val 5333"/>
            </a:avLst>
          </a:prstGeom>
          <a:solidFill>
            <a:schemeClr val="bg2"/>
          </a:solidFill>
          <a:ln/>
        </p:spPr>
      </p:sp>
      <p:sp>
        <p:nvSpPr>
          <p:cNvPr id="4" name="Text 2"/>
          <p:cNvSpPr txBox="1"/>
          <p:nvPr/>
        </p:nvSpPr>
        <p:spPr>
          <a:xfrm>
            <a:off x="640080" y="1298448"/>
            <a:ext cx="4480560" cy="1188720"/>
          </a:xfrm>
          <a:prstGeom prst="rect">
            <a:avLst/>
          </a:prstGeom>
          <a:noFill/>
          <a:ln/>
        </p:spPr>
        <p:txBody>
          <a:bodyPr wrap="square" lIns="0" tIns="0" rIns="0" bIns="0" rtlCol="0" anchor="t"/>
          <a:lstStyle/>
          <a:p>
            <a:pPr marL="0" indent="0">
              <a:buNone/>
            </a:pPr>
            <a:r>
              <a:rPr lang="en-US" sz="1600" b="1" dirty="0">
                <a:solidFill>
                  <a:schemeClr val="accent5"/>
                </a:solidFill>
              </a:rPr>
              <a:t>Business problem</a:t>
            </a:r>
            <a:endParaRPr lang="en-US" sz="1400" dirty="0"/>
          </a:p>
          <a:p>
            <a:pPr marL="0" indent="0">
              <a:buNone/>
            </a:pPr>
            <a:r>
              <a:rPr lang="en-US" sz="1400" dirty="0">
                <a:solidFill>
                  <a:schemeClr val="tx1"/>
                </a:solidFill>
              </a:rPr>
              <a:t>Most store visits end without a purchase. Spotting buying intent during the session lets a business act before the visitor leaves.</a:t>
            </a:r>
            <a:endParaRPr lang="en-US" sz="1400" dirty="0"/>
          </a:p>
        </p:txBody>
      </p:sp>
      <p:sp>
        <p:nvSpPr>
          <p:cNvPr id="5" name="question card"/>
          <p:cNvSpPr/>
          <p:nvPr/>
        </p:nvSpPr>
        <p:spPr>
          <a:xfrm>
            <a:off x="457200" y="2743200"/>
            <a:ext cx="4846320" cy="1783080"/>
          </a:xfrm>
          <a:prstGeom prst="roundRect">
            <a:avLst>
              <a:gd name="adj" fmla="val 4103"/>
            </a:avLst>
          </a:prstGeom>
          <a:solidFill>
            <a:schemeClr val="accent6"/>
          </a:solidFill>
          <a:ln/>
        </p:spPr>
      </p:sp>
      <p:sp>
        <p:nvSpPr>
          <p:cNvPr id="6" name="Text 4"/>
          <p:cNvSpPr txBox="1"/>
          <p:nvPr/>
        </p:nvSpPr>
        <p:spPr>
          <a:xfrm>
            <a:off x="640080" y="2852928"/>
            <a:ext cx="4480560" cy="1600200"/>
          </a:xfrm>
          <a:prstGeom prst="rect">
            <a:avLst/>
          </a:prstGeom>
          <a:noFill/>
          <a:ln/>
        </p:spPr>
        <p:txBody>
          <a:bodyPr wrap="square" lIns="0" tIns="0" rIns="0" bIns="0" rtlCol="0" anchor="t"/>
          <a:lstStyle/>
          <a:p>
            <a:pPr marL="0" indent="0">
              <a:buNone/>
            </a:pPr>
            <a:r>
              <a:rPr lang="en-US" sz="1600" b="1" dirty="0">
                <a:solidFill>
                  <a:schemeClr val="tx1"/>
                </a:solidFill>
              </a:rPr>
              <a:t>Research question</a:t>
            </a:r>
            <a:endParaRPr lang="en-US" sz="1400" dirty="0"/>
          </a:p>
          <a:p>
            <a:pPr marL="0" indent="0">
              <a:buNone/>
            </a:pPr>
            <a:r>
              <a:rPr lang="en-US" sz="1400" dirty="0">
                <a:solidFill>
                  <a:schemeClr val="tx1"/>
                </a:solidFill>
              </a:rPr>
              <a:t>Can we predict whether a session will generate revenue from browsing behaviour, visitor attributes and timing?</a:t>
            </a:r>
            <a:endParaRPr lang="en-US" sz="1400" dirty="0"/>
          </a:p>
          <a:p>
            <a:pPr marL="0" indent="0">
              <a:buNone/>
            </a:pPr>
            <a:r>
              <a:rPr lang="en-US" sz="1400" i="1" dirty="0">
                <a:solidFill>
                  <a:schemeClr val="tx1"/>
                </a:solidFill>
              </a:rPr>
              <a:t>Binary classification. Target: Revenue (True / False).</a:t>
            </a:r>
            <a:endParaRPr lang="en-US" sz="1400" dirty="0"/>
          </a:p>
        </p:txBody>
      </p:sp>
      <p:sp>
        <p:nvSpPr>
          <p:cNvPr id="7" name="stat card"/>
          <p:cNvSpPr/>
          <p:nvPr/>
        </p:nvSpPr>
        <p:spPr>
          <a:xfrm>
            <a:off x="5669280" y="1188720"/>
            <a:ext cx="3017520" cy="1005840"/>
          </a:xfrm>
          <a:prstGeom prst="roundRect">
            <a:avLst>
              <a:gd name="adj" fmla="val 7273"/>
            </a:avLst>
          </a:prstGeom>
          <a:solidFill>
            <a:schemeClr val="bg2"/>
          </a:solidFill>
          <a:ln/>
        </p:spPr>
      </p:sp>
      <p:sp>
        <p:nvSpPr>
          <p:cNvPr id="8" name="Text 6"/>
          <p:cNvSpPr txBox="1"/>
          <p:nvPr/>
        </p:nvSpPr>
        <p:spPr>
          <a:xfrm>
            <a:off x="5852160" y="1261872"/>
            <a:ext cx="2743200" cy="50292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15.5%</a:t>
            </a:r>
            <a:endParaRPr lang="en-US" sz="3200" dirty="0"/>
          </a:p>
        </p:txBody>
      </p:sp>
      <p:sp>
        <p:nvSpPr>
          <p:cNvPr id="9" name="Text 7"/>
          <p:cNvSpPr txBox="1"/>
          <p:nvPr/>
        </p:nvSpPr>
        <p:spPr>
          <a:xfrm>
            <a:off x="5852160" y="1783080"/>
            <a:ext cx="2743200" cy="365760"/>
          </a:xfrm>
          <a:prstGeom prst="rect">
            <a:avLst/>
          </a:prstGeom>
          <a:noFill/>
          <a:ln/>
        </p:spPr>
        <p:txBody>
          <a:bodyPr wrap="square" lIns="0" tIns="0" rIns="0" bIns="0" rtlCol="0" anchor="t"/>
          <a:lstStyle/>
          <a:p>
            <a:pPr marL="0" indent="0">
              <a:buNone/>
            </a:pPr>
            <a:r>
              <a:rPr lang="en-US" sz="1200" dirty="0">
                <a:solidFill>
                  <a:schemeClr val="tx2"/>
                </a:solidFill>
              </a:rPr>
              <a:t>of sessions end in a purchase</a:t>
            </a:r>
            <a:endParaRPr lang="en-US" sz="1200" dirty="0"/>
          </a:p>
        </p:txBody>
      </p:sp>
      <p:sp>
        <p:nvSpPr>
          <p:cNvPr id="10" name="stat card"/>
          <p:cNvSpPr/>
          <p:nvPr/>
        </p:nvSpPr>
        <p:spPr>
          <a:xfrm>
            <a:off x="5669280" y="2331720"/>
            <a:ext cx="3017520" cy="1005840"/>
          </a:xfrm>
          <a:prstGeom prst="roundRect">
            <a:avLst>
              <a:gd name="adj" fmla="val 7273"/>
            </a:avLst>
          </a:prstGeom>
          <a:solidFill>
            <a:schemeClr val="bg2"/>
          </a:solidFill>
          <a:ln/>
        </p:spPr>
      </p:sp>
      <p:sp>
        <p:nvSpPr>
          <p:cNvPr id="11" name="Text 9"/>
          <p:cNvSpPr txBox="1"/>
          <p:nvPr/>
        </p:nvSpPr>
        <p:spPr>
          <a:xfrm>
            <a:off x="5852160" y="2404872"/>
            <a:ext cx="2743200" cy="50292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12,330</a:t>
            </a:r>
            <a:endParaRPr lang="en-US" sz="3200" dirty="0"/>
          </a:p>
        </p:txBody>
      </p:sp>
      <p:sp>
        <p:nvSpPr>
          <p:cNvPr id="12" name="Text 10"/>
          <p:cNvSpPr txBox="1"/>
          <p:nvPr/>
        </p:nvSpPr>
        <p:spPr>
          <a:xfrm>
            <a:off x="5852160" y="2926080"/>
            <a:ext cx="2743200" cy="365760"/>
          </a:xfrm>
          <a:prstGeom prst="rect">
            <a:avLst/>
          </a:prstGeom>
          <a:noFill/>
          <a:ln/>
        </p:spPr>
        <p:txBody>
          <a:bodyPr wrap="square" lIns="0" tIns="0" rIns="0" bIns="0" rtlCol="0" anchor="t"/>
          <a:lstStyle/>
          <a:p>
            <a:pPr marL="0" indent="0">
              <a:buNone/>
            </a:pPr>
            <a:r>
              <a:rPr lang="en-US" sz="1200" dirty="0">
                <a:solidFill>
                  <a:schemeClr val="tx2"/>
                </a:solidFill>
              </a:rPr>
              <a:t>sessions in the dataset</a:t>
            </a:r>
            <a:endParaRPr lang="en-US" sz="1200" dirty="0"/>
          </a:p>
        </p:txBody>
      </p:sp>
      <p:sp>
        <p:nvSpPr>
          <p:cNvPr id="13" name="stat card"/>
          <p:cNvSpPr/>
          <p:nvPr/>
        </p:nvSpPr>
        <p:spPr>
          <a:xfrm>
            <a:off x="5669280" y="3474720"/>
            <a:ext cx="3017520" cy="1005840"/>
          </a:xfrm>
          <a:prstGeom prst="roundRect">
            <a:avLst>
              <a:gd name="adj" fmla="val 7273"/>
            </a:avLst>
          </a:prstGeom>
          <a:solidFill>
            <a:schemeClr val="bg2"/>
          </a:solidFill>
          <a:ln/>
        </p:spPr>
      </p:sp>
      <p:sp>
        <p:nvSpPr>
          <p:cNvPr id="14" name="Text 12"/>
          <p:cNvSpPr txBox="1"/>
          <p:nvPr/>
        </p:nvSpPr>
        <p:spPr>
          <a:xfrm>
            <a:off x="5852160" y="3547872"/>
            <a:ext cx="2743200" cy="50292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15" name="Text 13"/>
          <p:cNvSpPr txBox="1"/>
          <p:nvPr/>
        </p:nvSpPr>
        <p:spPr>
          <a:xfrm>
            <a:off x="5852160" y="4069080"/>
            <a:ext cx="2743200" cy="365760"/>
          </a:xfrm>
          <a:prstGeom prst="rect">
            <a:avLst/>
          </a:prstGeom>
          <a:noFill/>
          <a:ln/>
        </p:spPr>
        <p:txBody>
          <a:bodyPr wrap="square" lIns="0" tIns="0" rIns="0" bIns="0" rtlCol="0" anchor="t"/>
          <a:lstStyle/>
          <a:p>
            <a:pPr marL="0" indent="0">
              <a:buNone/>
            </a:pPr>
            <a:r>
              <a:rPr lang="en-US" sz="1200" dirty="0">
                <a:solidFill>
                  <a:schemeClr val="tx2"/>
                </a:solidFill>
              </a:rPr>
              <a:t>feature sets tested: with and without PageValues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Dataset overview</a:t>
            </a:r>
            <a:endParaRPr lang="en-US" sz="3200" dirty="0"/>
          </a:p>
        </p:txBody>
      </p:sp>
      <p:sp>
        <p:nvSpPr>
          <p:cNvPr id="3" name="group card"/>
          <p:cNvSpPr/>
          <p:nvPr/>
        </p:nvSpPr>
        <p:spPr>
          <a:xfrm>
            <a:off x="457200" y="1143000"/>
            <a:ext cx="2651760" cy="1234440"/>
          </a:xfrm>
          <a:prstGeom prst="roundRect">
            <a:avLst>
              <a:gd name="adj" fmla="val 5926"/>
            </a:avLst>
          </a:prstGeom>
          <a:solidFill>
            <a:schemeClr val="bg2"/>
          </a:solidFill>
          <a:ln/>
        </p:spPr>
      </p:sp>
      <p:sp>
        <p:nvSpPr>
          <p:cNvPr id="4" name="Page-visit counts circle"/>
          <p:cNvSpPr/>
          <p:nvPr/>
        </p:nvSpPr>
        <p:spPr>
          <a:xfrm>
            <a:off x="594360" y="1280160"/>
            <a:ext cx="457200" cy="457200"/>
          </a:xfrm>
          <a:prstGeom prst="ellipse">
            <a:avLst/>
          </a:prstGeom>
          <a:solidFill>
            <a:schemeClr val="accent1"/>
          </a:solidFill>
          <a:ln/>
        </p:spPr>
      </p:sp>
      <p:pic>
        <p:nvPicPr>
          <p:cNvPr id="5" name="Page-visit counts glyph" descr="Page-visit counts"/>
          <p:cNvPicPr>
            <a:picLocks noChangeAspect="1"/>
          </p:cNvPicPr>
          <p:nvPr/>
        </p:nvPicPr>
        <p:blipFill>
          <a:blip r:embed="rId3"/>
          <a:stretch>
            <a:fillRect/>
          </a:stretch>
        </p:blipFill>
        <p:spPr>
          <a:xfrm>
            <a:off x="717804" y="1403604"/>
            <a:ext cx="210312" cy="210312"/>
          </a:xfrm>
          <a:prstGeom prst="rect">
            <a:avLst/>
          </a:prstGeom>
        </p:spPr>
      </p:pic>
      <p:sp>
        <p:nvSpPr>
          <p:cNvPr id="6" name="Text 3"/>
          <p:cNvSpPr txBox="1"/>
          <p:nvPr/>
        </p:nvSpPr>
        <p:spPr>
          <a:xfrm>
            <a:off x="1143000" y="1307592"/>
            <a:ext cx="1874520" cy="411480"/>
          </a:xfrm>
          <a:prstGeom prst="rect">
            <a:avLst/>
          </a:prstGeom>
          <a:noFill/>
          <a:ln/>
        </p:spPr>
        <p:txBody>
          <a:bodyPr wrap="square" lIns="0" tIns="0" rIns="0" bIns="0" rtlCol="0" anchor="ctr"/>
          <a:lstStyle/>
          <a:p>
            <a:pPr marL="0" indent="0">
              <a:buNone/>
            </a:pPr>
            <a:r>
              <a:rPr lang="en-US" sz="1500" b="1" dirty="0">
                <a:solidFill>
                  <a:schemeClr val="tx1"/>
                </a:solidFill>
              </a:rPr>
              <a:t>Page-visit counts</a:t>
            </a:r>
            <a:endParaRPr lang="en-US" sz="1500" dirty="0"/>
          </a:p>
        </p:txBody>
      </p:sp>
      <p:sp>
        <p:nvSpPr>
          <p:cNvPr id="7" name="Text 4"/>
          <p:cNvSpPr txBox="1"/>
          <p:nvPr/>
        </p:nvSpPr>
        <p:spPr>
          <a:xfrm>
            <a:off x="594360" y="1828800"/>
            <a:ext cx="2423160" cy="502920"/>
          </a:xfrm>
          <a:prstGeom prst="rect">
            <a:avLst/>
          </a:prstGeom>
          <a:noFill/>
          <a:ln/>
        </p:spPr>
        <p:txBody>
          <a:bodyPr wrap="square" lIns="0" tIns="0" rIns="0" bIns="0" rtlCol="0" anchor="t"/>
          <a:lstStyle/>
          <a:p>
            <a:pPr marL="0" indent="0">
              <a:buNone/>
            </a:pPr>
            <a:r>
              <a:rPr lang="en-US" sz="1200" dirty="0">
                <a:solidFill>
                  <a:schemeClr val="tx2"/>
                </a:solidFill>
              </a:rPr>
              <a:t>Administrative, Informational, ProductRelated pages viewed</a:t>
            </a:r>
            <a:endParaRPr lang="en-US" sz="1200" dirty="0"/>
          </a:p>
        </p:txBody>
      </p:sp>
      <p:sp>
        <p:nvSpPr>
          <p:cNvPr id="8" name="group card"/>
          <p:cNvSpPr/>
          <p:nvPr/>
        </p:nvSpPr>
        <p:spPr>
          <a:xfrm>
            <a:off x="3246120" y="1143000"/>
            <a:ext cx="2651760" cy="1234440"/>
          </a:xfrm>
          <a:prstGeom prst="roundRect">
            <a:avLst>
              <a:gd name="adj" fmla="val 5926"/>
            </a:avLst>
          </a:prstGeom>
          <a:solidFill>
            <a:schemeClr val="bg2"/>
          </a:solidFill>
          <a:ln/>
        </p:spPr>
      </p:sp>
      <p:sp>
        <p:nvSpPr>
          <p:cNvPr id="9" name="Time spent circle"/>
          <p:cNvSpPr/>
          <p:nvPr/>
        </p:nvSpPr>
        <p:spPr>
          <a:xfrm>
            <a:off x="3383280" y="1280160"/>
            <a:ext cx="457200" cy="457200"/>
          </a:xfrm>
          <a:prstGeom prst="ellipse">
            <a:avLst/>
          </a:prstGeom>
          <a:solidFill>
            <a:schemeClr val="accent1"/>
          </a:solidFill>
          <a:ln/>
        </p:spPr>
      </p:sp>
      <p:pic>
        <p:nvPicPr>
          <p:cNvPr id="10" name="Time spent glyph" descr="Time spent"/>
          <p:cNvPicPr>
            <a:picLocks noChangeAspect="1"/>
          </p:cNvPicPr>
          <p:nvPr/>
        </p:nvPicPr>
        <p:blipFill>
          <a:blip r:embed="rId4"/>
          <a:stretch>
            <a:fillRect/>
          </a:stretch>
        </p:blipFill>
        <p:spPr>
          <a:xfrm>
            <a:off x="3506724" y="1403604"/>
            <a:ext cx="210312" cy="210312"/>
          </a:xfrm>
          <a:prstGeom prst="rect">
            <a:avLst/>
          </a:prstGeom>
        </p:spPr>
      </p:pic>
      <p:sp>
        <p:nvSpPr>
          <p:cNvPr id="11" name="Text 7"/>
          <p:cNvSpPr txBox="1"/>
          <p:nvPr/>
        </p:nvSpPr>
        <p:spPr>
          <a:xfrm>
            <a:off x="3931920" y="1307592"/>
            <a:ext cx="1874520" cy="411480"/>
          </a:xfrm>
          <a:prstGeom prst="rect">
            <a:avLst/>
          </a:prstGeom>
          <a:noFill/>
          <a:ln/>
        </p:spPr>
        <p:txBody>
          <a:bodyPr wrap="square" lIns="0" tIns="0" rIns="0" bIns="0" rtlCol="0" anchor="ctr"/>
          <a:lstStyle/>
          <a:p>
            <a:pPr marL="0" indent="0">
              <a:buNone/>
            </a:pPr>
            <a:r>
              <a:rPr lang="en-US" sz="1500" b="1" dirty="0">
                <a:solidFill>
                  <a:schemeClr val="tx1"/>
                </a:solidFill>
              </a:rPr>
              <a:t>Time spent</a:t>
            </a:r>
            <a:endParaRPr lang="en-US" sz="1500" dirty="0"/>
          </a:p>
        </p:txBody>
      </p:sp>
      <p:sp>
        <p:nvSpPr>
          <p:cNvPr id="12" name="Text 8"/>
          <p:cNvSpPr txBox="1"/>
          <p:nvPr/>
        </p:nvSpPr>
        <p:spPr>
          <a:xfrm>
            <a:off x="3383280" y="1828800"/>
            <a:ext cx="2423160" cy="502920"/>
          </a:xfrm>
          <a:prstGeom prst="rect">
            <a:avLst/>
          </a:prstGeom>
          <a:noFill/>
          <a:ln/>
        </p:spPr>
        <p:txBody>
          <a:bodyPr wrap="square" lIns="0" tIns="0" rIns="0" bIns="0" rtlCol="0" anchor="t"/>
          <a:lstStyle/>
          <a:p>
            <a:pPr marL="0" indent="0">
              <a:buNone/>
            </a:pPr>
            <a:r>
              <a:rPr lang="en-US" sz="1200" dirty="0">
                <a:solidFill>
                  <a:schemeClr val="tx2"/>
                </a:solidFill>
              </a:rPr>
              <a:t>Seconds on each of the three page types</a:t>
            </a:r>
            <a:endParaRPr lang="en-US" sz="1200" dirty="0"/>
          </a:p>
        </p:txBody>
      </p:sp>
      <p:sp>
        <p:nvSpPr>
          <p:cNvPr id="13" name="group card"/>
          <p:cNvSpPr/>
          <p:nvPr/>
        </p:nvSpPr>
        <p:spPr>
          <a:xfrm>
            <a:off x="6035040" y="1143000"/>
            <a:ext cx="2651760" cy="1234440"/>
          </a:xfrm>
          <a:prstGeom prst="roundRect">
            <a:avLst>
              <a:gd name="adj" fmla="val 5926"/>
            </a:avLst>
          </a:prstGeom>
          <a:solidFill>
            <a:schemeClr val="bg2"/>
          </a:solidFill>
          <a:ln/>
        </p:spPr>
      </p:sp>
      <p:sp>
        <p:nvSpPr>
          <p:cNvPr id="14" name="Analytics metrics circle"/>
          <p:cNvSpPr/>
          <p:nvPr/>
        </p:nvSpPr>
        <p:spPr>
          <a:xfrm>
            <a:off x="6172200" y="1280160"/>
            <a:ext cx="457200" cy="457200"/>
          </a:xfrm>
          <a:prstGeom prst="ellipse">
            <a:avLst/>
          </a:prstGeom>
          <a:solidFill>
            <a:schemeClr val="accent1"/>
          </a:solidFill>
          <a:ln/>
        </p:spPr>
      </p:sp>
      <p:pic>
        <p:nvPicPr>
          <p:cNvPr id="15" name="Analytics metrics glyph" descr="Analytics metrics"/>
          <p:cNvPicPr>
            <a:picLocks noChangeAspect="1"/>
          </p:cNvPicPr>
          <p:nvPr/>
        </p:nvPicPr>
        <p:blipFill>
          <a:blip r:embed="rId5"/>
          <a:stretch>
            <a:fillRect/>
          </a:stretch>
        </p:blipFill>
        <p:spPr>
          <a:xfrm>
            <a:off x="6295644" y="1403604"/>
            <a:ext cx="210312" cy="210312"/>
          </a:xfrm>
          <a:prstGeom prst="rect">
            <a:avLst/>
          </a:prstGeom>
        </p:spPr>
      </p:pic>
      <p:sp>
        <p:nvSpPr>
          <p:cNvPr id="16" name="Text 11"/>
          <p:cNvSpPr txBox="1"/>
          <p:nvPr/>
        </p:nvSpPr>
        <p:spPr>
          <a:xfrm>
            <a:off x="6720840" y="1307592"/>
            <a:ext cx="1874520" cy="411480"/>
          </a:xfrm>
          <a:prstGeom prst="rect">
            <a:avLst/>
          </a:prstGeom>
          <a:noFill/>
          <a:ln/>
        </p:spPr>
        <p:txBody>
          <a:bodyPr wrap="square" lIns="0" tIns="0" rIns="0" bIns="0" rtlCol="0" anchor="ctr"/>
          <a:lstStyle/>
          <a:p>
            <a:pPr marL="0" indent="0">
              <a:buNone/>
            </a:pPr>
            <a:r>
              <a:rPr lang="en-US" sz="1500" b="1" dirty="0">
                <a:solidFill>
                  <a:schemeClr val="tx1"/>
                </a:solidFill>
              </a:rPr>
              <a:t>Analytics metrics</a:t>
            </a:r>
            <a:endParaRPr lang="en-US" sz="1500" dirty="0"/>
          </a:p>
        </p:txBody>
      </p:sp>
      <p:sp>
        <p:nvSpPr>
          <p:cNvPr id="17" name="Text 12"/>
          <p:cNvSpPr txBox="1"/>
          <p:nvPr/>
        </p:nvSpPr>
        <p:spPr>
          <a:xfrm>
            <a:off x="6172200" y="1828800"/>
            <a:ext cx="2423160" cy="502920"/>
          </a:xfrm>
          <a:prstGeom prst="rect">
            <a:avLst/>
          </a:prstGeom>
          <a:noFill/>
          <a:ln/>
        </p:spPr>
        <p:txBody>
          <a:bodyPr wrap="square" lIns="0" tIns="0" rIns="0" bIns="0" rtlCol="0" anchor="t"/>
          <a:lstStyle/>
          <a:p>
            <a:pPr marL="0" indent="0">
              <a:buNone/>
            </a:pPr>
            <a:r>
              <a:rPr lang="en-US" sz="1200" dirty="0">
                <a:solidFill>
                  <a:schemeClr val="tx2"/>
                </a:solidFill>
              </a:rPr>
              <a:t>BounceRates, ExitRates, PageValues</a:t>
            </a:r>
            <a:endParaRPr lang="en-US" sz="1200" dirty="0"/>
          </a:p>
        </p:txBody>
      </p:sp>
      <p:sp>
        <p:nvSpPr>
          <p:cNvPr id="18" name="group card"/>
          <p:cNvSpPr/>
          <p:nvPr/>
        </p:nvSpPr>
        <p:spPr>
          <a:xfrm>
            <a:off x="457200" y="2514600"/>
            <a:ext cx="2651760" cy="1234440"/>
          </a:xfrm>
          <a:prstGeom prst="roundRect">
            <a:avLst>
              <a:gd name="adj" fmla="val 5926"/>
            </a:avLst>
          </a:prstGeom>
          <a:solidFill>
            <a:schemeClr val="bg2"/>
          </a:solidFill>
          <a:ln/>
        </p:spPr>
      </p:sp>
      <p:sp>
        <p:nvSpPr>
          <p:cNvPr id="19" name="Calendar circle"/>
          <p:cNvSpPr/>
          <p:nvPr/>
        </p:nvSpPr>
        <p:spPr>
          <a:xfrm>
            <a:off x="594360" y="2651760"/>
            <a:ext cx="457200" cy="457200"/>
          </a:xfrm>
          <a:prstGeom prst="ellipse">
            <a:avLst/>
          </a:prstGeom>
          <a:solidFill>
            <a:schemeClr val="accent1"/>
          </a:solidFill>
          <a:ln/>
        </p:spPr>
      </p:sp>
      <p:pic>
        <p:nvPicPr>
          <p:cNvPr id="20" name="Calendar glyph" descr="Calendar"/>
          <p:cNvPicPr>
            <a:picLocks noChangeAspect="1"/>
          </p:cNvPicPr>
          <p:nvPr/>
        </p:nvPicPr>
        <p:blipFill>
          <a:blip r:embed="rId6"/>
          <a:stretch>
            <a:fillRect/>
          </a:stretch>
        </p:blipFill>
        <p:spPr>
          <a:xfrm>
            <a:off x="717804" y="2775204"/>
            <a:ext cx="210312" cy="210312"/>
          </a:xfrm>
          <a:prstGeom prst="rect">
            <a:avLst/>
          </a:prstGeom>
        </p:spPr>
      </p:pic>
      <p:sp>
        <p:nvSpPr>
          <p:cNvPr id="21" name="Text 15"/>
          <p:cNvSpPr txBox="1"/>
          <p:nvPr/>
        </p:nvSpPr>
        <p:spPr>
          <a:xfrm>
            <a:off x="1143000" y="2679192"/>
            <a:ext cx="1874520" cy="411480"/>
          </a:xfrm>
          <a:prstGeom prst="rect">
            <a:avLst/>
          </a:prstGeom>
          <a:noFill/>
          <a:ln/>
        </p:spPr>
        <p:txBody>
          <a:bodyPr wrap="square" lIns="0" tIns="0" rIns="0" bIns="0" rtlCol="0" anchor="ctr"/>
          <a:lstStyle/>
          <a:p>
            <a:pPr marL="0" indent="0">
              <a:buNone/>
            </a:pPr>
            <a:r>
              <a:rPr lang="en-US" sz="1500" b="1" dirty="0">
                <a:solidFill>
                  <a:schemeClr val="tx1"/>
                </a:solidFill>
              </a:rPr>
              <a:t>Calendar</a:t>
            </a:r>
            <a:endParaRPr lang="en-US" sz="1500" dirty="0"/>
          </a:p>
        </p:txBody>
      </p:sp>
      <p:sp>
        <p:nvSpPr>
          <p:cNvPr id="22" name="Text 16"/>
          <p:cNvSpPr txBox="1"/>
          <p:nvPr/>
        </p:nvSpPr>
        <p:spPr>
          <a:xfrm>
            <a:off x="594360" y="3200400"/>
            <a:ext cx="2423160" cy="502920"/>
          </a:xfrm>
          <a:prstGeom prst="rect">
            <a:avLst/>
          </a:prstGeom>
          <a:noFill/>
          <a:ln/>
        </p:spPr>
        <p:txBody>
          <a:bodyPr wrap="square" lIns="0" tIns="0" rIns="0" bIns="0" rtlCol="0" anchor="t"/>
          <a:lstStyle/>
          <a:p>
            <a:pPr marL="0" indent="0">
              <a:buNone/>
            </a:pPr>
            <a:r>
              <a:rPr lang="en-US" sz="1200" dirty="0">
                <a:solidFill>
                  <a:schemeClr val="tx2"/>
                </a:solidFill>
              </a:rPr>
              <a:t>Month, Weekend, SpecialDay</a:t>
            </a:r>
            <a:endParaRPr lang="en-US" sz="1200" dirty="0"/>
          </a:p>
        </p:txBody>
      </p:sp>
      <p:sp>
        <p:nvSpPr>
          <p:cNvPr id="23" name="group card"/>
          <p:cNvSpPr/>
          <p:nvPr/>
        </p:nvSpPr>
        <p:spPr>
          <a:xfrm>
            <a:off x="3246120" y="2514600"/>
            <a:ext cx="2651760" cy="1234440"/>
          </a:xfrm>
          <a:prstGeom prst="roundRect">
            <a:avLst>
              <a:gd name="adj" fmla="val 5926"/>
            </a:avLst>
          </a:prstGeom>
          <a:solidFill>
            <a:schemeClr val="bg2"/>
          </a:solidFill>
          <a:ln/>
        </p:spPr>
      </p:sp>
      <p:sp>
        <p:nvSpPr>
          <p:cNvPr id="24" name="Technical and source circle"/>
          <p:cNvSpPr/>
          <p:nvPr/>
        </p:nvSpPr>
        <p:spPr>
          <a:xfrm>
            <a:off x="3383280" y="2651760"/>
            <a:ext cx="457200" cy="457200"/>
          </a:xfrm>
          <a:prstGeom prst="ellipse">
            <a:avLst/>
          </a:prstGeom>
          <a:solidFill>
            <a:schemeClr val="accent1"/>
          </a:solidFill>
          <a:ln/>
        </p:spPr>
      </p:sp>
      <p:pic>
        <p:nvPicPr>
          <p:cNvPr id="25" name="Technical and source glyph" descr="Technical and source"/>
          <p:cNvPicPr>
            <a:picLocks noChangeAspect="1"/>
          </p:cNvPicPr>
          <p:nvPr/>
        </p:nvPicPr>
        <p:blipFill>
          <a:blip r:embed="rId7"/>
          <a:stretch>
            <a:fillRect/>
          </a:stretch>
        </p:blipFill>
        <p:spPr>
          <a:xfrm>
            <a:off x="3506724" y="2775204"/>
            <a:ext cx="210312" cy="210312"/>
          </a:xfrm>
          <a:prstGeom prst="rect">
            <a:avLst/>
          </a:prstGeom>
        </p:spPr>
      </p:pic>
      <p:sp>
        <p:nvSpPr>
          <p:cNvPr id="26" name="Text 19"/>
          <p:cNvSpPr txBox="1"/>
          <p:nvPr/>
        </p:nvSpPr>
        <p:spPr>
          <a:xfrm>
            <a:off x="3931920" y="2679192"/>
            <a:ext cx="1874520" cy="411480"/>
          </a:xfrm>
          <a:prstGeom prst="rect">
            <a:avLst/>
          </a:prstGeom>
          <a:noFill/>
          <a:ln/>
        </p:spPr>
        <p:txBody>
          <a:bodyPr wrap="square" lIns="0" tIns="0" rIns="0" bIns="0" rtlCol="0" anchor="ctr"/>
          <a:lstStyle/>
          <a:p>
            <a:pPr marL="0" indent="0">
              <a:buNone/>
            </a:pPr>
            <a:r>
              <a:rPr lang="en-US" sz="1500" b="1" dirty="0">
                <a:solidFill>
                  <a:schemeClr val="tx1"/>
                </a:solidFill>
              </a:rPr>
              <a:t>Technical and source</a:t>
            </a:r>
            <a:endParaRPr lang="en-US" sz="1500" dirty="0"/>
          </a:p>
        </p:txBody>
      </p:sp>
      <p:sp>
        <p:nvSpPr>
          <p:cNvPr id="27" name="Text 20"/>
          <p:cNvSpPr txBox="1"/>
          <p:nvPr/>
        </p:nvSpPr>
        <p:spPr>
          <a:xfrm>
            <a:off x="3383280" y="3200400"/>
            <a:ext cx="2423160" cy="502920"/>
          </a:xfrm>
          <a:prstGeom prst="rect">
            <a:avLst/>
          </a:prstGeom>
          <a:noFill/>
          <a:ln/>
        </p:spPr>
        <p:txBody>
          <a:bodyPr wrap="square" lIns="0" tIns="0" rIns="0" bIns="0" rtlCol="0" anchor="t"/>
          <a:lstStyle/>
          <a:p>
            <a:pPr marL="0" indent="0">
              <a:buNone/>
            </a:pPr>
            <a:r>
              <a:rPr lang="en-US" sz="1200" dirty="0">
                <a:solidFill>
                  <a:schemeClr val="tx2"/>
                </a:solidFill>
              </a:rPr>
              <a:t>Operating system, browser, region, traffic type</a:t>
            </a:r>
            <a:endParaRPr lang="en-US" sz="1200" dirty="0"/>
          </a:p>
        </p:txBody>
      </p:sp>
      <p:sp>
        <p:nvSpPr>
          <p:cNvPr id="28" name="group card"/>
          <p:cNvSpPr/>
          <p:nvPr/>
        </p:nvSpPr>
        <p:spPr>
          <a:xfrm>
            <a:off x="6035040" y="2514600"/>
            <a:ext cx="2651760" cy="1234440"/>
          </a:xfrm>
          <a:prstGeom prst="roundRect">
            <a:avLst>
              <a:gd name="adj" fmla="val 5926"/>
            </a:avLst>
          </a:prstGeom>
          <a:solidFill>
            <a:schemeClr val="bg2"/>
          </a:solidFill>
          <a:ln/>
        </p:spPr>
      </p:sp>
      <p:sp>
        <p:nvSpPr>
          <p:cNvPr id="29" name="Visitor circle"/>
          <p:cNvSpPr/>
          <p:nvPr/>
        </p:nvSpPr>
        <p:spPr>
          <a:xfrm>
            <a:off x="6172200" y="2651760"/>
            <a:ext cx="457200" cy="457200"/>
          </a:xfrm>
          <a:prstGeom prst="ellipse">
            <a:avLst/>
          </a:prstGeom>
          <a:solidFill>
            <a:schemeClr val="accent1"/>
          </a:solidFill>
          <a:ln/>
        </p:spPr>
      </p:sp>
      <p:pic>
        <p:nvPicPr>
          <p:cNvPr id="30" name="Visitor glyph" descr="Visitor"/>
          <p:cNvPicPr>
            <a:picLocks noChangeAspect="1"/>
          </p:cNvPicPr>
          <p:nvPr/>
        </p:nvPicPr>
        <p:blipFill>
          <a:blip r:embed="rId8"/>
          <a:stretch>
            <a:fillRect/>
          </a:stretch>
        </p:blipFill>
        <p:spPr>
          <a:xfrm>
            <a:off x="6295644" y="2775204"/>
            <a:ext cx="210312" cy="210312"/>
          </a:xfrm>
          <a:prstGeom prst="rect">
            <a:avLst/>
          </a:prstGeom>
        </p:spPr>
      </p:pic>
      <p:sp>
        <p:nvSpPr>
          <p:cNvPr id="31" name="Text 23"/>
          <p:cNvSpPr txBox="1"/>
          <p:nvPr/>
        </p:nvSpPr>
        <p:spPr>
          <a:xfrm>
            <a:off x="6720840" y="2679192"/>
            <a:ext cx="1874520" cy="411480"/>
          </a:xfrm>
          <a:prstGeom prst="rect">
            <a:avLst/>
          </a:prstGeom>
          <a:noFill/>
          <a:ln/>
        </p:spPr>
        <p:txBody>
          <a:bodyPr wrap="square" lIns="0" tIns="0" rIns="0" bIns="0" rtlCol="0" anchor="ctr"/>
          <a:lstStyle/>
          <a:p>
            <a:pPr marL="0" indent="0">
              <a:buNone/>
            </a:pPr>
            <a:r>
              <a:rPr lang="en-US" sz="1500" b="1" dirty="0">
                <a:solidFill>
                  <a:schemeClr val="tx1"/>
                </a:solidFill>
              </a:rPr>
              <a:t>Visitor</a:t>
            </a:r>
            <a:endParaRPr lang="en-US" sz="1500" dirty="0"/>
          </a:p>
        </p:txBody>
      </p:sp>
      <p:sp>
        <p:nvSpPr>
          <p:cNvPr id="32" name="Text 24"/>
          <p:cNvSpPr txBox="1"/>
          <p:nvPr/>
        </p:nvSpPr>
        <p:spPr>
          <a:xfrm>
            <a:off x="6172200" y="3200400"/>
            <a:ext cx="2423160" cy="502920"/>
          </a:xfrm>
          <a:prstGeom prst="rect">
            <a:avLst/>
          </a:prstGeom>
          <a:noFill/>
          <a:ln/>
        </p:spPr>
        <p:txBody>
          <a:bodyPr wrap="square" lIns="0" tIns="0" rIns="0" bIns="0" rtlCol="0" anchor="t"/>
          <a:lstStyle/>
          <a:p>
            <a:pPr marL="0" indent="0">
              <a:buNone/>
            </a:pPr>
            <a:r>
              <a:rPr lang="en-US" sz="1200" dirty="0">
                <a:solidFill>
                  <a:schemeClr val="tx2"/>
                </a:solidFill>
              </a:rPr>
              <a:t>New, returning or other visitor</a:t>
            </a:r>
            <a:endParaRPr lang="en-US" sz="1200" dirty="0"/>
          </a:p>
        </p:txBody>
      </p:sp>
      <p:sp>
        <p:nvSpPr>
          <p:cNvPr id="33" name="target strip"/>
          <p:cNvSpPr/>
          <p:nvPr/>
        </p:nvSpPr>
        <p:spPr>
          <a:xfrm>
            <a:off x="457200" y="3931920"/>
            <a:ext cx="8229600" cy="640080"/>
          </a:xfrm>
          <a:prstGeom prst="roundRect">
            <a:avLst>
              <a:gd name="adj" fmla="val 11429"/>
            </a:avLst>
          </a:prstGeom>
          <a:solidFill>
            <a:schemeClr val="tx1"/>
          </a:solidFill>
          <a:ln/>
        </p:spPr>
      </p:sp>
      <p:sp>
        <p:nvSpPr>
          <p:cNvPr id="34" name="Text 26"/>
          <p:cNvSpPr txBox="1"/>
          <p:nvPr/>
        </p:nvSpPr>
        <p:spPr>
          <a:xfrm>
            <a:off x="640080" y="3931920"/>
            <a:ext cx="7863840" cy="640080"/>
          </a:xfrm>
          <a:prstGeom prst="rect">
            <a:avLst/>
          </a:prstGeom>
          <a:noFill/>
          <a:ln/>
        </p:spPr>
        <p:txBody>
          <a:bodyPr wrap="square" lIns="0" tIns="0" rIns="0" bIns="0" rtlCol="0" anchor="ctr"/>
          <a:lstStyle/>
          <a:p>
            <a:pPr marL="0" indent="0">
              <a:buNone/>
            </a:pPr>
            <a:r>
              <a:rPr lang="en-US" sz="1400" b="1" dirty="0">
                <a:solidFill>
                  <a:schemeClr val="accent2"/>
                </a:solidFill>
              </a:rPr>
              <a:t>Target: </a:t>
            </a:r>
            <a:r>
              <a:rPr lang="en-US" sz="1400" dirty="0">
                <a:solidFill>
                  <a:schemeClr val="bg1"/>
                </a:solidFill>
              </a:rPr>
              <a:t>Revenue (True = purchase)   |   12,330 rows x 18 columns   |   0 missing values   |   125 duplicates</a:t>
            </a:r>
            <a:endParaRPr lang="en-US" sz="1400" dirty="0"/>
          </a:p>
        </p:txBody>
      </p:sp>
      <p:sp>
        <p:nvSpPr>
          <p:cNvPr id="3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Data understanding: what EDA showed</a:t>
            </a:r>
            <a:endParaRPr lang="en-US" sz="3200" dirty="0"/>
          </a:p>
        </p:txBody>
      </p:sp>
      <p:pic>
        <p:nvPicPr>
          <p:cNvPr id="3" name="EDA charts" descr="Class distribution and purchase rate by month"/>
          <p:cNvPicPr>
            <a:picLocks noChangeAspect="1"/>
          </p:cNvPicPr>
          <p:nvPr/>
        </p:nvPicPr>
        <p:blipFill>
          <a:blip r:embed="rId3"/>
          <a:stretch>
            <a:fillRect/>
          </a:stretch>
        </p:blipFill>
        <p:spPr>
          <a:xfrm>
            <a:off x="1097280" y="1097280"/>
            <a:ext cx="6949440" cy="2580504"/>
          </a:xfrm>
          <a:prstGeom prst="rect">
            <a:avLst/>
          </a:prstGeom>
        </p:spPr>
      </p:pic>
      <p:sp>
        <p:nvSpPr>
          <p:cNvPr id="4" name="mini stat"/>
          <p:cNvSpPr/>
          <p:nvPr/>
        </p:nvSpPr>
        <p:spPr>
          <a:xfrm>
            <a:off x="457200" y="3794760"/>
            <a:ext cx="1965960" cy="868680"/>
          </a:xfrm>
          <a:prstGeom prst="roundRect">
            <a:avLst>
              <a:gd name="adj" fmla="val 8421"/>
            </a:avLst>
          </a:prstGeom>
          <a:solidFill>
            <a:schemeClr val="bg2"/>
          </a:solidFill>
          <a:ln/>
        </p:spPr>
      </p:sp>
      <p:sp>
        <p:nvSpPr>
          <p:cNvPr id="5" name="Text 2"/>
          <p:cNvSpPr txBox="1"/>
          <p:nvPr/>
        </p:nvSpPr>
        <p:spPr>
          <a:xfrm>
            <a:off x="566928" y="3840480"/>
            <a:ext cx="1783080" cy="411480"/>
          </a:xfrm>
          <a:prstGeom prst="rect">
            <a:avLst/>
          </a:prstGeom>
          <a:noFill/>
          <a:ln/>
        </p:spPr>
        <p:txBody>
          <a:bodyPr wrap="square" lIns="0" tIns="0" rIns="0" bIns="0" rtlCol="0" anchor="ctr"/>
          <a:lstStyle/>
          <a:p>
            <a:pPr marL="0" indent="0">
              <a:buNone/>
            </a:pPr>
            <a:r>
              <a:rPr lang="en-US" sz="1800" b="1" dirty="0">
                <a:solidFill>
                  <a:schemeClr val="accent5"/>
                </a:solidFill>
                <a:latin typeface="Cambria" pitchFamily="34" charset="0"/>
                <a:ea typeface="Cambria" pitchFamily="34" charset="-122"/>
                <a:cs typeface="Cambria" pitchFamily="34" charset="-120"/>
              </a:rPr>
              <a:t>Nov ~25%</a:t>
            </a:r>
            <a:endParaRPr lang="en-US" sz="1800" dirty="0"/>
          </a:p>
        </p:txBody>
      </p:sp>
      <p:sp>
        <p:nvSpPr>
          <p:cNvPr id="6" name="Text 3"/>
          <p:cNvSpPr txBox="1"/>
          <p:nvPr/>
        </p:nvSpPr>
        <p:spPr>
          <a:xfrm>
            <a:off x="566928" y="4251960"/>
            <a:ext cx="1783080" cy="365760"/>
          </a:xfrm>
          <a:prstGeom prst="rect">
            <a:avLst/>
          </a:prstGeom>
          <a:noFill/>
          <a:ln/>
        </p:spPr>
        <p:txBody>
          <a:bodyPr wrap="square" lIns="0" tIns="0" rIns="0" bIns="0" rtlCol="0" anchor="t"/>
          <a:lstStyle/>
          <a:p>
            <a:pPr marL="0" indent="0">
              <a:buNone/>
            </a:pPr>
            <a:r>
              <a:rPr lang="en-US" sz="1100" dirty="0">
                <a:solidFill>
                  <a:schemeClr val="tx2"/>
                </a:solidFill>
              </a:rPr>
              <a:t>purchase rate vs Feb ~2%</a:t>
            </a:r>
            <a:endParaRPr lang="en-US" sz="1100" dirty="0"/>
          </a:p>
        </p:txBody>
      </p:sp>
      <p:sp>
        <p:nvSpPr>
          <p:cNvPr id="7" name="mini stat"/>
          <p:cNvSpPr/>
          <p:nvPr/>
        </p:nvSpPr>
        <p:spPr>
          <a:xfrm>
            <a:off x="2542032" y="3794760"/>
            <a:ext cx="1965960" cy="868680"/>
          </a:xfrm>
          <a:prstGeom prst="roundRect">
            <a:avLst>
              <a:gd name="adj" fmla="val 8421"/>
            </a:avLst>
          </a:prstGeom>
          <a:solidFill>
            <a:schemeClr val="bg2"/>
          </a:solidFill>
          <a:ln/>
        </p:spPr>
      </p:sp>
      <p:sp>
        <p:nvSpPr>
          <p:cNvPr id="8" name="Text 5"/>
          <p:cNvSpPr txBox="1"/>
          <p:nvPr/>
        </p:nvSpPr>
        <p:spPr>
          <a:xfrm>
            <a:off x="2651760" y="3840480"/>
            <a:ext cx="1783080" cy="411480"/>
          </a:xfrm>
          <a:prstGeom prst="rect">
            <a:avLst/>
          </a:prstGeom>
          <a:noFill/>
          <a:ln/>
        </p:spPr>
        <p:txBody>
          <a:bodyPr wrap="square" lIns="0" tIns="0" rIns="0" bIns="0" rtlCol="0" anchor="ctr"/>
          <a:lstStyle/>
          <a:p>
            <a:pPr marL="0" indent="0">
              <a:buNone/>
            </a:pPr>
            <a:r>
              <a:rPr lang="en-US" sz="1800" b="1" dirty="0">
                <a:solidFill>
                  <a:schemeClr val="accent5"/>
                </a:solidFill>
                <a:latin typeface="Cambria" pitchFamily="34" charset="0"/>
                <a:ea typeface="Cambria" pitchFamily="34" charset="-122"/>
                <a:cs typeface="Cambria" pitchFamily="34" charset="-120"/>
              </a:rPr>
              <a:t>24% vs 14%</a:t>
            </a:r>
            <a:endParaRPr lang="en-US" sz="1800" dirty="0"/>
          </a:p>
        </p:txBody>
      </p:sp>
      <p:sp>
        <p:nvSpPr>
          <p:cNvPr id="9" name="Text 6"/>
          <p:cNvSpPr txBox="1"/>
          <p:nvPr/>
        </p:nvSpPr>
        <p:spPr>
          <a:xfrm>
            <a:off x="2651760" y="4251960"/>
            <a:ext cx="1783080" cy="365760"/>
          </a:xfrm>
          <a:prstGeom prst="rect">
            <a:avLst/>
          </a:prstGeom>
          <a:noFill/>
          <a:ln/>
        </p:spPr>
        <p:txBody>
          <a:bodyPr wrap="square" lIns="0" tIns="0" rIns="0" bIns="0" rtlCol="0" anchor="t"/>
          <a:lstStyle/>
          <a:p>
            <a:pPr marL="0" indent="0">
              <a:buNone/>
            </a:pPr>
            <a:r>
              <a:rPr lang="en-US" sz="1100" dirty="0">
                <a:solidFill>
                  <a:schemeClr val="tx2"/>
                </a:solidFill>
              </a:rPr>
              <a:t>new vs returning visitors</a:t>
            </a:r>
            <a:endParaRPr lang="en-US" sz="1100" dirty="0"/>
          </a:p>
        </p:txBody>
      </p:sp>
      <p:sp>
        <p:nvSpPr>
          <p:cNvPr id="10" name="mini stat"/>
          <p:cNvSpPr/>
          <p:nvPr/>
        </p:nvSpPr>
        <p:spPr>
          <a:xfrm>
            <a:off x="4626864" y="3794760"/>
            <a:ext cx="1965960" cy="868680"/>
          </a:xfrm>
          <a:prstGeom prst="roundRect">
            <a:avLst>
              <a:gd name="adj" fmla="val 8421"/>
            </a:avLst>
          </a:prstGeom>
          <a:solidFill>
            <a:schemeClr val="bg2"/>
          </a:solidFill>
          <a:ln/>
        </p:spPr>
      </p:sp>
      <p:sp>
        <p:nvSpPr>
          <p:cNvPr id="11" name="Text 8"/>
          <p:cNvSpPr txBox="1"/>
          <p:nvPr/>
        </p:nvSpPr>
        <p:spPr>
          <a:xfrm>
            <a:off x="4736592" y="3840480"/>
            <a:ext cx="1783080" cy="411480"/>
          </a:xfrm>
          <a:prstGeom prst="rect">
            <a:avLst/>
          </a:prstGeom>
          <a:noFill/>
          <a:ln/>
        </p:spPr>
        <p:txBody>
          <a:bodyPr wrap="square" lIns="0" tIns="0" rIns="0" bIns="0" rtlCol="0" anchor="ctr"/>
          <a:lstStyle/>
          <a:p>
            <a:pPr marL="0" indent="0">
              <a:buNone/>
            </a:pPr>
            <a:r>
              <a:rPr lang="en-US" sz="1800" b="1" dirty="0">
                <a:solidFill>
                  <a:schemeClr val="accent5"/>
                </a:solidFill>
                <a:latin typeface="Cambria" pitchFamily="34" charset="0"/>
                <a:ea typeface="Cambria" pitchFamily="34" charset="-122"/>
                <a:cs typeface="Cambria" pitchFamily="34" charset="-120"/>
              </a:rPr>
              <a:t>r = 0.49</a:t>
            </a:r>
            <a:endParaRPr lang="en-US" sz="1800" dirty="0"/>
          </a:p>
        </p:txBody>
      </p:sp>
      <p:sp>
        <p:nvSpPr>
          <p:cNvPr id="12" name="Text 9"/>
          <p:cNvSpPr txBox="1"/>
          <p:nvPr/>
        </p:nvSpPr>
        <p:spPr>
          <a:xfrm>
            <a:off x="4736592" y="4251960"/>
            <a:ext cx="1783080" cy="365760"/>
          </a:xfrm>
          <a:prstGeom prst="rect">
            <a:avLst/>
          </a:prstGeom>
          <a:noFill/>
          <a:ln/>
        </p:spPr>
        <p:txBody>
          <a:bodyPr wrap="square" lIns="0" tIns="0" rIns="0" bIns="0" rtlCol="0" anchor="t"/>
          <a:lstStyle/>
          <a:p>
            <a:pPr marL="0" indent="0">
              <a:buNone/>
            </a:pPr>
            <a:r>
              <a:rPr lang="en-US" sz="1100" dirty="0">
                <a:solidFill>
                  <a:schemeClr val="tx2"/>
                </a:solidFill>
              </a:rPr>
              <a:t>PageValues with Revenue</a:t>
            </a:r>
            <a:endParaRPr lang="en-US" sz="1100" dirty="0"/>
          </a:p>
        </p:txBody>
      </p:sp>
      <p:sp>
        <p:nvSpPr>
          <p:cNvPr id="13" name="mini stat"/>
          <p:cNvSpPr/>
          <p:nvPr/>
        </p:nvSpPr>
        <p:spPr>
          <a:xfrm>
            <a:off x="6711696" y="3794760"/>
            <a:ext cx="1965960" cy="868680"/>
          </a:xfrm>
          <a:prstGeom prst="roundRect">
            <a:avLst>
              <a:gd name="adj" fmla="val 8421"/>
            </a:avLst>
          </a:prstGeom>
          <a:solidFill>
            <a:schemeClr val="bg2"/>
          </a:solidFill>
          <a:ln/>
        </p:spPr>
      </p:sp>
      <p:sp>
        <p:nvSpPr>
          <p:cNvPr id="14" name="Text 11"/>
          <p:cNvSpPr txBox="1"/>
          <p:nvPr/>
        </p:nvSpPr>
        <p:spPr>
          <a:xfrm>
            <a:off x="6821424" y="3840480"/>
            <a:ext cx="1783080" cy="411480"/>
          </a:xfrm>
          <a:prstGeom prst="rect">
            <a:avLst/>
          </a:prstGeom>
          <a:noFill/>
          <a:ln/>
        </p:spPr>
        <p:txBody>
          <a:bodyPr wrap="square" lIns="0" tIns="0" rIns="0" bIns="0" rtlCol="0" anchor="ctr"/>
          <a:lstStyle/>
          <a:p>
            <a:pPr marL="0" indent="0">
              <a:buNone/>
            </a:pPr>
            <a:r>
              <a:rPr lang="en-US" sz="1800" b="1" dirty="0">
                <a:solidFill>
                  <a:schemeClr val="accent5"/>
                </a:solidFill>
                <a:latin typeface="Cambria" pitchFamily="34" charset="0"/>
                <a:ea typeface="Cambria" pitchFamily="34" charset="-122"/>
                <a:cs typeface="Cambria" pitchFamily="34" charset="-120"/>
              </a:rPr>
              <a:t>r = 0.91</a:t>
            </a:r>
            <a:endParaRPr lang="en-US" sz="1800" dirty="0"/>
          </a:p>
        </p:txBody>
      </p:sp>
      <p:sp>
        <p:nvSpPr>
          <p:cNvPr id="15" name="Text 12"/>
          <p:cNvSpPr txBox="1"/>
          <p:nvPr/>
        </p:nvSpPr>
        <p:spPr>
          <a:xfrm>
            <a:off x="6821424" y="4251960"/>
            <a:ext cx="1783080" cy="365760"/>
          </a:xfrm>
          <a:prstGeom prst="rect">
            <a:avLst/>
          </a:prstGeom>
          <a:noFill/>
          <a:ln/>
        </p:spPr>
        <p:txBody>
          <a:bodyPr wrap="square" lIns="0" tIns="0" rIns="0" bIns="0" rtlCol="0" anchor="t"/>
          <a:lstStyle/>
          <a:p>
            <a:pPr marL="0" indent="0">
              <a:buNone/>
            </a:pPr>
            <a:r>
              <a:rPr lang="en-US" sz="1100" dirty="0">
                <a:solidFill>
                  <a:schemeClr val="tx2"/>
                </a:solidFill>
              </a:rPr>
              <a:t>BounceRates with ExitRates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Preprocessing without leakage</a:t>
            </a:r>
            <a:endParaRPr lang="en-US" sz="3200" dirty="0"/>
          </a:p>
        </p:txBody>
      </p:sp>
      <p:sp>
        <p:nvSpPr>
          <p:cNvPr id="3" name="step card"/>
          <p:cNvSpPr/>
          <p:nvPr/>
        </p:nvSpPr>
        <p:spPr>
          <a:xfrm>
            <a:off x="457200" y="1234440"/>
            <a:ext cx="1965960" cy="2331720"/>
          </a:xfrm>
          <a:prstGeom prst="roundRect">
            <a:avLst>
              <a:gd name="adj" fmla="val 3721"/>
            </a:avLst>
          </a:prstGeom>
          <a:solidFill>
            <a:schemeClr val="bg2"/>
          </a:solidFill>
          <a:ln/>
        </p:spPr>
      </p:sp>
      <p:sp>
        <p:nvSpPr>
          <p:cNvPr id="4" name="step badge"/>
          <p:cNvSpPr/>
          <p:nvPr/>
        </p:nvSpPr>
        <p:spPr>
          <a:xfrm>
            <a:off x="594360" y="1371600"/>
            <a:ext cx="457200" cy="457200"/>
          </a:xfrm>
          <a:prstGeom prst="ellipse">
            <a:avLst/>
          </a:prstGeom>
          <a:solidFill>
            <a:schemeClr val="accent1"/>
          </a:solidFill>
          <a:ln/>
        </p:spPr>
      </p:sp>
      <p:sp>
        <p:nvSpPr>
          <p:cNvPr id="5" name="Text 3"/>
          <p:cNvSpPr txBox="1"/>
          <p:nvPr/>
        </p:nvSpPr>
        <p:spPr>
          <a:xfrm>
            <a:off x="594360" y="13716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594360" y="1965960"/>
            <a:ext cx="1691640" cy="594360"/>
          </a:xfrm>
          <a:prstGeom prst="rect">
            <a:avLst/>
          </a:prstGeom>
          <a:noFill/>
          <a:ln/>
        </p:spPr>
        <p:txBody>
          <a:bodyPr wrap="square" lIns="0" tIns="0" rIns="0" bIns="0" rtlCol="0" anchor="t"/>
          <a:lstStyle/>
          <a:p>
            <a:pPr marL="0" indent="0">
              <a:buNone/>
            </a:pPr>
            <a:r>
              <a:rPr lang="en-US" sz="1500" b="1" dirty="0">
                <a:solidFill>
                  <a:schemeClr val="tx1"/>
                </a:solidFill>
              </a:rPr>
              <a:t>Remove duplicates</a:t>
            </a:r>
            <a:endParaRPr lang="en-US" sz="1500" dirty="0"/>
          </a:p>
        </p:txBody>
      </p:sp>
      <p:sp>
        <p:nvSpPr>
          <p:cNvPr id="7" name="Text 5"/>
          <p:cNvSpPr txBox="1"/>
          <p:nvPr/>
        </p:nvSpPr>
        <p:spPr>
          <a:xfrm>
            <a:off x="594360" y="2606040"/>
            <a:ext cx="1691640" cy="914400"/>
          </a:xfrm>
          <a:prstGeom prst="rect">
            <a:avLst/>
          </a:prstGeom>
          <a:noFill/>
          <a:ln/>
        </p:spPr>
        <p:txBody>
          <a:bodyPr wrap="square" lIns="0" tIns="0" rIns="0" bIns="0" rtlCol="0" anchor="t"/>
          <a:lstStyle/>
          <a:p>
            <a:pPr marL="0" indent="0">
              <a:buNone/>
            </a:pPr>
            <a:r>
              <a:rPr lang="en-US" sz="1200" dirty="0">
                <a:solidFill>
                  <a:schemeClr val="tx2"/>
                </a:solidFill>
              </a:rPr>
              <a:t>12,330 to 12,205 sessions</a:t>
            </a:r>
            <a:endParaRPr lang="en-US" sz="1200" dirty="0"/>
          </a:p>
        </p:txBody>
      </p:sp>
      <p:sp>
        <p:nvSpPr>
          <p:cNvPr id="8" name="step card"/>
          <p:cNvSpPr/>
          <p:nvPr/>
        </p:nvSpPr>
        <p:spPr>
          <a:xfrm>
            <a:off x="2542032" y="1234440"/>
            <a:ext cx="1965960" cy="2331720"/>
          </a:xfrm>
          <a:prstGeom prst="roundRect">
            <a:avLst>
              <a:gd name="adj" fmla="val 3721"/>
            </a:avLst>
          </a:prstGeom>
          <a:solidFill>
            <a:schemeClr val="accent6"/>
          </a:solidFill>
          <a:ln/>
        </p:spPr>
      </p:sp>
      <p:sp>
        <p:nvSpPr>
          <p:cNvPr id="9" name="step badge"/>
          <p:cNvSpPr/>
          <p:nvPr/>
        </p:nvSpPr>
        <p:spPr>
          <a:xfrm>
            <a:off x="2679192" y="1371600"/>
            <a:ext cx="457200" cy="457200"/>
          </a:xfrm>
          <a:prstGeom prst="ellipse">
            <a:avLst/>
          </a:prstGeom>
          <a:solidFill>
            <a:schemeClr val="accent2"/>
          </a:solidFill>
          <a:ln/>
        </p:spPr>
      </p:sp>
      <p:sp>
        <p:nvSpPr>
          <p:cNvPr id="10" name="Text 8"/>
          <p:cNvSpPr txBox="1"/>
          <p:nvPr/>
        </p:nvSpPr>
        <p:spPr>
          <a:xfrm>
            <a:off x="2679192" y="13716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2679192" y="1965960"/>
            <a:ext cx="1691640" cy="594360"/>
          </a:xfrm>
          <a:prstGeom prst="rect">
            <a:avLst/>
          </a:prstGeom>
          <a:noFill/>
          <a:ln/>
        </p:spPr>
        <p:txBody>
          <a:bodyPr wrap="square" lIns="0" tIns="0" rIns="0" bIns="0" rtlCol="0" anchor="t"/>
          <a:lstStyle/>
          <a:p>
            <a:pPr marL="0" indent="0">
              <a:buNone/>
            </a:pPr>
            <a:r>
              <a:rPr lang="en-US" sz="1500" b="1" dirty="0">
                <a:solidFill>
                  <a:schemeClr val="tx1"/>
                </a:solidFill>
              </a:rPr>
              <a:t>Stratified split first</a:t>
            </a:r>
            <a:endParaRPr lang="en-US" sz="1500" dirty="0"/>
          </a:p>
        </p:txBody>
      </p:sp>
      <p:sp>
        <p:nvSpPr>
          <p:cNvPr id="12" name="Text 10"/>
          <p:cNvSpPr txBox="1"/>
          <p:nvPr/>
        </p:nvSpPr>
        <p:spPr>
          <a:xfrm>
            <a:off x="2679192" y="2606040"/>
            <a:ext cx="1691640" cy="914400"/>
          </a:xfrm>
          <a:prstGeom prst="rect">
            <a:avLst/>
          </a:prstGeom>
          <a:noFill/>
          <a:ln/>
        </p:spPr>
        <p:txBody>
          <a:bodyPr wrap="square" lIns="0" tIns="0" rIns="0" bIns="0" rtlCol="0" anchor="t"/>
          <a:lstStyle/>
          <a:p>
            <a:pPr marL="0" indent="0">
              <a:buNone/>
            </a:pPr>
            <a:r>
              <a:rPr lang="en-US" sz="1200" dirty="0">
                <a:solidFill>
                  <a:schemeClr val="tx2"/>
                </a:solidFill>
              </a:rPr>
              <a:t>9,764 train, 2,441 test, 15.6% buyers in both</a:t>
            </a:r>
            <a:endParaRPr lang="en-US" sz="1200" dirty="0"/>
          </a:p>
        </p:txBody>
      </p:sp>
      <p:sp>
        <p:nvSpPr>
          <p:cNvPr id="13" name="step card"/>
          <p:cNvSpPr/>
          <p:nvPr/>
        </p:nvSpPr>
        <p:spPr>
          <a:xfrm>
            <a:off x="4626864" y="1234440"/>
            <a:ext cx="1965960" cy="2331720"/>
          </a:xfrm>
          <a:prstGeom prst="roundRect">
            <a:avLst>
              <a:gd name="adj" fmla="val 3721"/>
            </a:avLst>
          </a:prstGeom>
          <a:solidFill>
            <a:schemeClr val="bg2"/>
          </a:solidFill>
          <a:ln/>
        </p:spPr>
      </p:sp>
      <p:sp>
        <p:nvSpPr>
          <p:cNvPr id="14" name="step badge"/>
          <p:cNvSpPr/>
          <p:nvPr/>
        </p:nvSpPr>
        <p:spPr>
          <a:xfrm>
            <a:off x="4764024" y="1371600"/>
            <a:ext cx="457200" cy="457200"/>
          </a:xfrm>
          <a:prstGeom prst="ellipse">
            <a:avLst/>
          </a:prstGeom>
          <a:solidFill>
            <a:schemeClr val="accent1"/>
          </a:solidFill>
          <a:ln/>
        </p:spPr>
      </p:sp>
      <p:sp>
        <p:nvSpPr>
          <p:cNvPr id="15" name="Text 13"/>
          <p:cNvSpPr txBox="1"/>
          <p:nvPr/>
        </p:nvSpPr>
        <p:spPr>
          <a:xfrm>
            <a:off x="4764024" y="13716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4764024" y="1965960"/>
            <a:ext cx="1691640" cy="594360"/>
          </a:xfrm>
          <a:prstGeom prst="rect">
            <a:avLst/>
          </a:prstGeom>
          <a:noFill/>
          <a:ln/>
        </p:spPr>
        <p:txBody>
          <a:bodyPr wrap="square" lIns="0" tIns="0" rIns="0" bIns="0" rtlCol="0" anchor="t"/>
          <a:lstStyle/>
          <a:p>
            <a:pPr marL="0" indent="0">
              <a:buNone/>
            </a:pPr>
            <a:r>
              <a:rPr lang="en-US" sz="1500" b="1" dirty="0">
                <a:solidFill>
                  <a:schemeClr val="tx1"/>
                </a:solidFill>
              </a:rPr>
              <a:t>Fit on train only</a:t>
            </a:r>
            <a:endParaRPr lang="en-US" sz="1500" dirty="0"/>
          </a:p>
        </p:txBody>
      </p:sp>
      <p:sp>
        <p:nvSpPr>
          <p:cNvPr id="17" name="Text 15"/>
          <p:cNvSpPr txBox="1"/>
          <p:nvPr/>
        </p:nvSpPr>
        <p:spPr>
          <a:xfrm>
            <a:off x="4764024" y="2606040"/>
            <a:ext cx="1691640" cy="914400"/>
          </a:xfrm>
          <a:prstGeom prst="rect">
            <a:avLst/>
          </a:prstGeom>
          <a:noFill/>
          <a:ln/>
        </p:spPr>
        <p:txBody>
          <a:bodyPr wrap="square" lIns="0" tIns="0" rIns="0" bIns="0" rtlCol="0" anchor="t"/>
          <a:lstStyle/>
          <a:p>
            <a:pPr marL="0" indent="0">
              <a:buNone/>
            </a:pPr>
            <a:r>
              <a:rPr lang="en-US" sz="1200" dirty="0">
                <a:solidFill>
                  <a:schemeClr val="tx2"/>
                </a:solidFill>
              </a:rPr>
              <a:t>StandardScaler on 14 numeric columns; one-hot on Month, VisitorType, Weekend</a:t>
            </a:r>
            <a:endParaRPr lang="en-US" sz="1200" dirty="0"/>
          </a:p>
        </p:txBody>
      </p:sp>
      <p:sp>
        <p:nvSpPr>
          <p:cNvPr id="18" name="step card"/>
          <p:cNvSpPr/>
          <p:nvPr/>
        </p:nvSpPr>
        <p:spPr>
          <a:xfrm>
            <a:off x="6711696" y="1234440"/>
            <a:ext cx="1965960" cy="2331720"/>
          </a:xfrm>
          <a:prstGeom prst="roundRect">
            <a:avLst>
              <a:gd name="adj" fmla="val 3721"/>
            </a:avLst>
          </a:prstGeom>
          <a:solidFill>
            <a:schemeClr val="accent6"/>
          </a:solidFill>
          <a:ln/>
        </p:spPr>
      </p:sp>
      <p:sp>
        <p:nvSpPr>
          <p:cNvPr id="19" name="step badge"/>
          <p:cNvSpPr/>
          <p:nvPr/>
        </p:nvSpPr>
        <p:spPr>
          <a:xfrm>
            <a:off x="6848856" y="1371600"/>
            <a:ext cx="457200" cy="457200"/>
          </a:xfrm>
          <a:prstGeom prst="ellipse">
            <a:avLst/>
          </a:prstGeom>
          <a:solidFill>
            <a:schemeClr val="accent2"/>
          </a:solidFill>
          <a:ln/>
        </p:spPr>
      </p:sp>
      <p:sp>
        <p:nvSpPr>
          <p:cNvPr id="20" name="Text 18"/>
          <p:cNvSpPr txBox="1"/>
          <p:nvPr/>
        </p:nvSpPr>
        <p:spPr>
          <a:xfrm>
            <a:off x="6848856" y="13716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Text 19"/>
          <p:cNvSpPr txBox="1"/>
          <p:nvPr/>
        </p:nvSpPr>
        <p:spPr>
          <a:xfrm>
            <a:off x="6848856" y="1965960"/>
            <a:ext cx="1691640" cy="594360"/>
          </a:xfrm>
          <a:prstGeom prst="rect">
            <a:avLst/>
          </a:prstGeom>
          <a:noFill/>
          <a:ln/>
        </p:spPr>
        <p:txBody>
          <a:bodyPr wrap="square" lIns="0" tIns="0" rIns="0" bIns="0" rtlCol="0" anchor="t"/>
          <a:lstStyle/>
          <a:p>
            <a:pPr marL="0" indent="0">
              <a:buNone/>
            </a:pPr>
            <a:r>
              <a:rPr lang="en-US" sz="1500" b="1" dirty="0">
                <a:solidFill>
                  <a:schemeClr val="tx1"/>
                </a:solidFill>
              </a:rPr>
              <a:t>Model-ready features</a:t>
            </a:r>
            <a:endParaRPr lang="en-US" sz="1500" dirty="0"/>
          </a:p>
        </p:txBody>
      </p:sp>
      <p:sp>
        <p:nvSpPr>
          <p:cNvPr id="22" name="Text 20"/>
          <p:cNvSpPr txBox="1"/>
          <p:nvPr/>
        </p:nvSpPr>
        <p:spPr>
          <a:xfrm>
            <a:off x="6848856" y="2606040"/>
            <a:ext cx="1691640" cy="914400"/>
          </a:xfrm>
          <a:prstGeom prst="rect">
            <a:avLst/>
          </a:prstGeom>
          <a:noFill/>
          <a:ln/>
        </p:spPr>
        <p:txBody>
          <a:bodyPr wrap="square" lIns="0" tIns="0" rIns="0" bIns="0" rtlCol="0" anchor="t"/>
          <a:lstStyle/>
          <a:p>
            <a:pPr marL="0" indent="0">
              <a:buNone/>
            </a:pPr>
            <a:r>
              <a:rPr lang="en-US" sz="1200" dirty="0">
                <a:solidFill>
                  <a:schemeClr val="tx2"/>
                </a:solidFill>
              </a:rPr>
              <a:t>29 features, or 28 without PageValues</a:t>
            </a:r>
            <a:endParaRPr lang="en-US" sz="1200" dirty="0"/>
          </a:p>
        </p:txBody>
      </p:sp>
      <p:sp>
        <p:nvSpPr>
          <p:cNvPr id="23" name="rule strip"/>
          <p:cNvSpPr/>
          <p:nvPr/>
        </p:nvSpPr>
        <p:spPr>
          <a:xfrm>
            <a:off x="457200" y="3794760"/>
            <a:ext cx="8229600" cy="777240"/>
          </a:xfrm>
          <a:prstGeom prst="roundRect">
            <a:avLst>
              <a:gd name="adj" fmla="val 9412"/>
            </a:avLst>
          </a:prstGeom>
          <a:solidFill>
            <a:schemeClr val="tx1"/>
          </a:solidFill>
          <a:ln/>
        </p:spPr>
      </p:sp>
      <p:sp>
        <p:nvSpPr>
          <p:cNvPr id="24" name="Text 22"/>
          <p:cNvSpPr txBox="1"/>
          <p:nvPr/>
        </p:nvSpPr>
        <p:spPr>
          <a:xfrm>
            <a:off x="640080" y="3794760"/>
            <a:ext cx="7863840" cy="777240"/>
          </a:xfrm>
          <a:prstGeom prst="rect">
            <a:avLst/>
          </a:prstGeom>
          <a:noFill/>
          <a:ln/>
        </p:spPr>
        <p:txBody>
          <a:bodyPr wrap="square" lIns="0" tIns="0" rIns="0" bIns="0" rtlCol="0" anchor="ctr"/>
          <a:lstStyle/>
          <a:p>
            <a:pPr marL="0" indent="0">
              <a:buNone/>
            </a:pPr>
            <a:r>
              <a:rPr lang="en-US" sz="1400" b="1" dirty="0">
                <a:solidFill>
                  <a:schemeClr val="accent2"/>
                </a:solidFill>
              </a:rPr>
              <a:t>Rule: </a:t>
            </a:r>
            <a:r>
              <a:rPr lang="en-US" sz="1400" dirty="0">
                <a:solidFill>
                  <a:schemeClr val="bg1"/>
                </a:solidFill>
              </a:rPr>
              <a:t>split before transforming, and fit every scaler and encoder on the training rows only, so no test information reaches the model.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Predictive modelling approach</a:t>
            </a:r>
            <a:endParaRPr lang="en-US" sz="3200" dirty="0"/>
          </a:p>
        </p:txBody>
      </p:sp>
      <p:pic>
        <p:nvPicPr>
          <p:cNvPr id="3" name="KDD flow" descr="KDD process flow"/>
          <p:cNvPicPr>
            <a:picLocks noChangeAspect="1"/>
          </p:cNvPicPr>
          <p:nvPr/>
        </p:nvPicPr>
        <p:blipFill>
          <a:blip r:embed="rId3"/>
          <a:stretch>
            <a:fillRect/>
          </a:stretch>
        </p:blipFill>
        <p:spPr>
          <a:xfrm>
            <a:off x="457200" y="1051560"/>
            <a:ext cx="8229600" cy="1905802"/>
          </a:xfrm>
          <a:prstGeom prst="rect">
            <a:avLst/>
          </a:prstGeom>
        </p:spPr>
      </p:pic>
      <p:sp>
        <p:nvSpPr>
          <p:cNvPr id="4" name="config A"/>
          <p:cNvSpPr/>
          <p:nvPr/>
        </p:nvSpPr>
        <p:spPr>
          <a:xfrm>
            <a:off x="457200" y="3140242"/>
            <a:ext cx="4023360" cy="960120"/>
          </a:xfrm>
          <a:prstGeom prst="roundRect">
            <a:avLst>
              <a:gd name="adj" fmla="val 7619"/>
            </a:avLst>
          </a:prstGeom>
          <a:solidFill>
            <a:schemeClr val="bg2"/>
          </a:solidFill>
          <a:ln/>
        </p:spPr>
      </p:sp>
      <p:sp>
        <p:nvSpPr>
          <p:cNvPr id="5" name="Text 2"/>
          <p:cNvSpPr txBox="1"/>
          <p:nvPr/>
        </p:nvSpPr>
        <p:spPr>
          <a:xfrm>
            <a:off x="640080" y="3231682"/>
            <a:ext cx="3657600" cy="822960"/>
          </a:xfrm>
          <a:prstGeom prst="rect">
            <a:avLst/>
          </a:prstGeom>
          <a:noFill/>
          <a:ln/>
        </p:spPr>
        <p:txBody>
          <a:bodyPr wrap="square" lIns="0" tIns="0" rIns="0" bIns="0" rtlCol="0" anchor="t"/>
          <a:lstStyle/>
          <a:p>
            <a:pPr marL="0" indent="0">
              <a:buNone/>
            </a:pPr>
            <a:r>
              <a:rPr lang="en-US" sz="1500" b="1" dirty="0">
                <a:solidFill>
                  <a:schemeClr val="accent5"/>
                </a:solidFill>
              </a:rPr>
              <a:t>Configuration A: with PageValues</a:t>
            </a:r>
            <a:endParaRPr lang="en-US" sz="1400" dirty="0"/>
          </a:p>
          <a:p>
            <a:pPr marL="0" indent="0">
              <a:buNone/>
            </a:pPr>
            <a:r>
              <a:rPr lang="en-US" sz="1400" dirty="0">
                <a:solidFill>
                  <a:schemeClr val="tx1"/>
                </a:solidFill>
              </a:rPr>
              <a:t>29 features. Best case on historical data.</a:t>
            </a:r>
            <a:endParaRPr lang="en-US" sz="1400" dirty="0"/>
          </a:p>
        </p:txBody>
      </p:sp>
      <p:sp>
        <p:nvSpPr>
          <p:cNvPr id="6" name="config B"/>
          <p:cNvSpPr/>
          <p:nvPr/>
        </p:nvSpPr>
        <p:spPr>
          <a:xfrm>
            <a:off x="4663440" y="3140242"/>
            <a:ext cx="4023360" cy="960120"/>
          </a:xfrm>
          <a:prstGeom prst="roundRect">
            <a:avLst>
              <a:gd name="adj" fmla="val 7619"/>
            </a:avLst>
          </a:prstGeom>
          <a:solidFill>
            <a:schemeClr val="accent6"/>
          </a:solidFill>
          <a:ln/>
        </p:spPr>
      </p:sp>
      <p:sp>
        <p:nvSpPr>
          <p:cNvPr id="7" name="Text 4"/>
          <p:cNvSpPr txBox="1"/>
          <p:nvPr/>
        </p:nvSpPr>
        <p:spPr>
          <a:xfrm>
            <a:off x="4846320" y="3231682"/>
            <a:ext cx="3657600" cy="822960"/>
          </a:xfrm>
          <a:prstGeom prst="rect">
            <a:avLst/>
          </a:prstGeom>
          <a:noFill/>
          <a:ln/>
        </p:spPr>
        <p:txBody>
          <a:bodyPr wrap="square" lIns="0" tIns="0" rIns="0" bIns="0" rtlCol="0" anchor="t"/>
          <a:lstStyle/>
          <a:p>
            <a:pPr marL="0" indent="0">
              <a:buNone/>
            </a:pPr>
            <a:r>
              <a:rPr lang="en-US" sz="1500" b="1" dirty="0">
                <a:solidFill>
                  <a:schemeClr val="accent3"/>
                </a:solidFill>
              </a:rPr>
              <a:t>Configuration B: without PageValues</a:t>
            </a:r>
            <a:endParaRPr lang="en-US" sz="1400" dirty="0"/>
          </a:p>
          <a:p>
            <a:pPr marL="0" indent="0">
              <a:buNone/>
            </a:pPr>
            <a:r>
              <a:rPr lang="en-US" sz="1400" dirty="0">
                <a:solidFill>
                  <a:schemeClr val="tx1"/>
                </a:solidFill>
              </a:rPr>
              <a:t>28 features. PageValues is built from purchase value, so it may leak the answer.</a:t>
            </a:r>
            <a:endParaRPr lang="en-US" sz="1400" dirty="0"/>
          </a:p>
        </p:txBody>
      </p:sp>
      <p:sp>
        <p:nvSpPr>
          <p:cNvPr id="8" name="same setup strip"/>
          <p:cNvSpPr/>
          <p:nvPr/>
        </p:nvSpPr>
        <p:spPr>
          <a:xfrm>
            <a:off x="457200" y="4237522"/>
            <a:ext cx="8229600" cy="457200"/>
          </a:xfrm>
          <a:prstGeom prst="roundRect">
            <a:avLst>
              <a:gd name="adj" fmla="val 16000"/>
            </a:avLst>
          </a:prstGeom>
          <a:solidFill>
            <a:schemeClr val="tx1"/>
          </a:solidFill>
          <a:ln/>
        </p:spPr>
      </p:sp>
      <p:sp>
        <p:nvSpPr>
          <p:cNvPr id="9" name="Text 6"/>
          <p:cNvSpPr txBox="1"/>
          <p:nvPr/>
        </p:nvSpPr>
        <p:spPr>
          <a:xfrm>
            <a:off x="640080" y="4237522"/>
            <a:ext cx="7863840" cy="457200"/>
          </a:xfrm>
          <a:prstGeom prst="rect">
            <a:avLst/>
          </a:prstGeom>
          <a:noFill/>
          <a:ln/>
        </p:spPr>
        <p:txBody>
          <a:bodyPr wrap="square" lIns="0" tIns="0" rIns="0" bIns="0" rtlCol="0" anchor="ctr"/>
          <a:lstStyle/>
          <a:p>
            <a:pPr marL="0" indent="0">
              <a:buNone/>
            </a:pPr>
            <a:r>
              <a:rPr lang="en-US" sz="1400" dirty="0">
                <a:solidFill>
                  <a:schemeClr val="bg1"/>
                </a:solidFill>
              </a:rPr>
              <a:t>Same splits, folds and seeds in both, so any gap is due to PageValues.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Model development and tuning</a:t>
            </a:r>
            <a:endParaRPr lang="en-US" sz="3200" dirty="0"/>
          </a:p>
        </p:txBody>
      </p:sp>
      <p:graphicFrame>
        <p:nvGraphicFramePr>
          <p:cNvPr id="8" name="model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38912">
                <a:tc>
                  <a:txBody>
                    <a:bodyPr/>
                    <a:lstStyle/>
                    <a:p>
                      <a:pPr marL="0" indent="0">
                        <a:buNone/>
                      </a:pPr>
                      <a:r>
                        <a:rPr lang="en-US" sz="1200" b="1" dirty="0">
                          <a:solidFill>
                            <a:schemeClr val="bg1"/>
                          </a:solidFill>
                        </a:rPr>
                        <a:t>Model</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Grid searched</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Imbalance</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CV AUC with PV</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CV AUC without</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38912">
                <a:tc>
                  <a:txBody>
                    <a:bodyPr/>
                    <a:lstStyle/>
                    <a:p>
                      <a:pPr marL="0" indent="0">
                        <a:buNone/>
                      </a:pPr>
                      <a:r>
                        <a:rPr lang="en-US" sz="1200" b="1" dirty="0">
                          <a:solidFill>
                            <a:schemeClr val="tx1"/>
                          </a:solidFill>
                        </a:rPr>
                        <a:t>Logistic Regression</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 0.01, 0.1, 1, 10</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balanced weights</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0.8999</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0.7375</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912">
                <a:tc>
                  <a:txBody>
                    <a:bodyPr/>
                    <a:lstStyle/>
                    <a:p>
                      <a:pPr marL="0" indent="0">
                        <a:buNone/>
                      </a:pPr>
                      <a:r>
                        <a:rPr lang="en-US" sz="1200" b="1" dirty="0">
                          <a:solidFill>
                            <a:schemeClr val="tx1"/>
                          </a:solidFill>
                        </a:rPr>
                        <a:t>Decision Tree</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depth 3/5/8/12; min split 2/10</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balanced weights</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0.9125</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0.7437</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8912">
                <a:tc>
                  <a:txBody>
                    <a:bodyPr/>
                    <a:lstStyle/>
                    <a:p>
                      <a:pPr marL="0" indent="0">
                        <a:buNone/>
                      </a:pPr>
                      <a:r>
                        <a:rPr lang="en-US" sz="1200" b="1" dirty="0">
                          <a:solidFill>
                            <a:schemeClr val="tx1"/>
                          </a:solidFill>
                        </a:rPr>
                        <a:t>Random Forest</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trees 50/100; depth 5/10/15</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balanced weights</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0.9275</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0.7688</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8912">
                <a:tc>
                  <a:txBody>
                    <a:bodyPr/>
                    <a:lstStyle/>
                    <a:p>
                      <a:pPr marL="0" indent="0">
                        <a:buNone/>
                      </a:pPr>
                      <a:r>
                        <a:rPr lang="en-US" sz="1200" b="1" dirty="0">
                          <a:solidFill>
                            <a:schemeClr val="tx1"/>
                          </a:solidFill>
                        </a:rPr>
                        <a:t>Gradient Boosting</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trees 50/100; learning rate 0.01/0.1/0.2</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none available</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0.9296</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0.7698</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38912">
                <a:tc>
                  <a:txBody>
                    <a:bodyPr/>
                    <a:lstStyle/>
                    <a:p>
                      <a:pPr marL="0" indent="0">
                        <a:buNone/>
                      </a:pPr>
                      <a:r>
                        <a:rPr lang="en-US" sz="1200" b="1" dirty="0">
                          <a:solidFill>
                            <a:schemeClr val="tx1"/>
                          </a:solidFill>
                        </a:rPr>
                        <a:t>Dummy baseline</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stratified random</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n/a</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0.50</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0.50</a:t>
                      </a:r>
                      <a:endParaRPr lang="en-US" sz="1200" dirty="0"/>
                    </a:p>
                  </a:txBody>
                  <a:tcPr marL="73152" marR="73152" marT="36576" marB="36576"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method strip"/>
          <p:cNvSpPr/>
          <p:nvPr/>
        </p:nvSpPr>
        <p:spPr>
          <a:xfrm>
            <a:off x="457200" y="4023360"/>
            <a:ext cx="8229600" cy="548640"/>
          </a:xfrm>
          <a:prstGeom prst="roundRect">
            <a:avLst>
              <a:gd name="adj" fmla="val 13333"/>
            </a:avLst>
          </a:prstGeom>
          <a:solidFill>
            <a:schemeClr val="bg2"/>
          </a:solidFill>
          <a:ln/>
        </p:spPr>
      </p:sp>
      <p:sp>
        <p:nvSpPr>
          <p:cNvPr id="5" name="Text 2"/>
          <p:cNvSpPr txBox="1"/>
          <p:nvPr/>
        </p:nvSpPr>
        <p:spPr>
          <a:xfrm>
            <a:off x="640080" y="4023360"/>
            <a:ext cx="7863840" cy="548640"/>
          </a:xfrm>
          <a:prstGeom prst="rect">
            <a:avLst/>
          </a:prstGeom>
          <a:noFill/>
          <a:ln/>
        </p:spPr>
        <p:txBody>
          <a:bodyPr wrap="square" lIns="0" tIns="0" rIns="0" bIns="0" rtlCol="0" anchor="ctr"/>
          <a:lstStyle/>
          <a:p>
            <a:pPr marL="0" indent="0">
              <a:buNone/>
            </a:pPr>
            <a:r>
              <a:rPr lang="en-US" sz="1400" b="1" dirty="0">
                <a:solidFill>
                  <a:schemeClr val="accent5"/>
                </a:solidFill>
              </a:rPr>
              <a:t>GridSearchCV  |  5-fold stratified cross-validation  |  scored on ROC-AUC  |  random_state = 42</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Evaluation on the held-out test set</a:t>
            </a:r>
            <a:endParaRPr lang="en-US" sz="3200" dirty="0"/>
          </a:p>
        </p:txBody>
      </p:sp>
      <p:graphicFrame>
        <p:nvGraphicFramePr>
          <p:cNvPr id="3" name="ROC-AUC chart"/>
          <p:cNvGraphicFramePr/>
          <p:nvPr/>
        </p:nvGraphicFramePr>
        <p:xfrm>
          <a:off x="457200" y="1097280"/>
          <a:ext cx="402336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PR-AUC chart"/>
          <p:cNvGraphicFramePr/>
          <p:nvPr/>
        </p:nvGraphicFramePr>
        <p:xfrm>
          <a:off x="4663440" y="1097280"/>
          <a:ext cx="402336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5" name="baseline strip"/>
          <p:cNvSpPr/>
          <p:nvPr/>
        </p:nvSpPr>
        <p:spPr>
          <a:xfrm>
            <a:off x="457200" y="4206240"/>
            <a:ext cx="8229600" cy="457200"/>
          </a:xfrm>
          <a:prstGeom prst="roundRect">
            <a:avLst>
              <a:gd name="adj" fmla="val 16000"/>
            </a:avLst>
          </a:prstGeom>
          <a:solidFill>
            <a:schemeClr val="bg2"/>
          </a:solidFill>
          <a:ln/>
        </p:spPr>
      </p:sp>
      <p:sp>
        <p:nvSpPr>
          <p:cNvPr id="6" name="Text 2"/>
          <p:cNvSpPr txBox="1"/>
          <p:nvPr/>
        </p:nvSpPr>
        <p:spPr>
          <a:xfrm>
            <a:off x="640080" y="4206240"/>
            <a:ext cx="7863840" cy="457200"/>
          </a:xfrm>
          <a:prstGeom prst="rect">
            <a:avLst/>
          </a:prstGeom>
          <a:noFill/>
          <a:ln/>
        </p:spPr>
        <p:txBody>
          <a:bodyPr wrap="square" lIns="0" tIns="0" rIns="0" bIns="0" rtlCol="0" anchor="ctr"/>
          <a:lstStyle/>
          <a:p>
            <a:pPr marL="0" indent="0">
              <a:buNone/>
            </a:pPr>
            <a:r>
              <a:rPr lang="en-US" sz="1200" dirty="0">
                <a:solidFill>
                  <a:schemeClr val="tx2"/>
                </a:solidFill>
              </a:rPr>
              <a:t>Dummy baseline: ROC-AUC 0.504, PR-AUC 0.230. Accuracy is avoided: 84.5% of sessions are non-buyers.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Results: PageValues carries the score</a:t>
            </a:r>
            <a:endParaRPr lang="en-US" sz="3200" dirty="0"/>
          </a:p>
        </p:txBody>
      </p:sp>
      <p:sp>
        <p:nvSpPr>
          <p:cNvPr id="3" name="drop card"/>
          <p:cNvSpPr/>
          <p:nvPr/>
        </p:nvSpPr>
        <p:spPr>
          <a:xfrm>
            <a:off x="457200" y="1143000"/>
            <a:ext cx="3931920" cy="960120"/>
          </a:xfrm>
          <a:prstGeom prst="roundRect">
            <a:avLst>
              <a:gd name="adj" fmla="val 7619"/>
            </a:avLst>
          </a:prstGeom>
          <a:solidFill>
            <a:schemeClr val="bg2"/>
          </a:solidFill>
          <a:ln/>
        </p:spPr>
      </p:sp>
      <p:sp>
        <p:nvSpPr>
          <p:cNvPr id="4" name="Text 2"/>
          <p:cNvSpPr txBox="1"/>
          <p:nvPr/>
        </p:nvSpPr>
        <p:spPr>
          <a:xfrm>
            <a:off x="640080" y="1216152"/>
            <a:ext cx="3566160" cy="274320"/>
          </a:xfrm>
          <a:prstGeom prst="rect">
            <a:avLst/>
          </a:prstGeom>
          <a:noFill/>
          <a:ln/>
        </p:spPr>
        <p:txBody>
          <a:bodyPr wrap="square" lIns="0" tIns="0" rIns="0" bIns="0" rtlCol="0" anchor="t"/>
          <a:lstStyle/>
          <a:p>
            <a:pPr marL="0" indent="0">
              <a:buNone/>
            </a:pPr>
            <a:r>
              <a:rPr lang="en-US" sz="1200" b="1" dirty="0">
                <a:solidFill>
                  <a:schemeClr val="tx2"/>
                </a:solidFill>
              </a:rPr>
              <a:t>ROC-AUC</a:t>
            </a:r>
            <a:endParaRPr lang="en-US" sz="1200" dirty="0"/>
          </a:p>
        </p:txBody>
      </p:sp>
      <p:sp>
        <p:nvSpPr>
          <p:cNvPr id="5" name="Text 3"/>
          <p:cNvSpPr txBox="1"/>
          <p:nvPr/>
        </p:nvSpPr>
        <p:spPr>
          <a:xfrm>
            <a:off x="640080" y="1508760"/>
            <a:ext cx="3566160" cy="54864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0.937</a:t>
            </a:r>
            <a:r>
              <a:rPr lang="en-US" sz="1400" b="1" dirty="0">
                <a:solidFill>
                  <a:schemeClr val="tx2"/>
                </a:solidFill>
                <a:latin typeface="Cambria" pitchFamily="34" charset="0"/>
                <a:ea typeface="Cambria" pitchFamily="34" charset="-122"/>
                <a:cs typeface="Cambria" pitchFamily="34" charset="-120"/>
              </a:rPr>
              <a:t>  to  </a:t>
            </a:r>
            <a:r>
              <a:rPr lang="en-US" sz="3000" b="1" dirty="0">
                <a:solidFill>
                  <a:schemeClr val="accent3"/>
                </a:solidFill>
                <a:latin typeface="Cambria" pitchFamily="34" charset="0"/>
                <a:ea typeface="Cambria" pitchFamily="34" charset="-122"/>
                <a:cs typeface="Cambria" pitchFamily="34" charset="-120"/>
              </a:rPr>
              <a:t>0.784</a:t>
            </a:r>
            <a:endParaRPr lang="en-US" sz="3000" dirty="0"/>
          </a:p>
        </p:txBody>
      </p:sp>
      <p:sp>
        <p:nvSpPr>
          <p:cNvPr id="6" name="drop card"/>
          <p:cNvSpPr/>
          <p:nvPr/>
        </p:nvSpPr>
        <p:spPr>
          <a:xfrm>
            <a:off x="457200" y="2240280"/>
            <a:ext cx="3931920" cy="960120"/>
          </a:xfrm>
          <a:prstGeom prst="roundRect">
            <a:avLst>
              <a:gd name="adj" fmla="val 7619"/>
            </a:avLst>
          </a:prstGeom>
          <a:solidFill>
            <a:schemeClr val="bg2"/>
          </a:solidFill>
          <a:ln/>
        </p:spPr>
      </p:sp>
      <p:sp>
        <p:nvSpPr>
          <p:cNvPr id="7" name="Text 5"/>
          <p:cNvSpPr txBox="1"/>
          <p:nvPr/>
        </p:nvSpPr>
        <p:spPr>
          <a:xfrm>
            <a:off x="640080" y="2313432"/>
            <a:ext cx="3566160" cy="274320"/>
          </a:xfrm>
          <a:prstGeom prst="rect">
            <a:avLst/>
          </a:prstGeom>
          <a:noFill/>
          <a:ln/>
        </p:spPr>
        <p:txBody>
          <a:bodyPr wrap="square" lIns="0" tIns="0" rIns="0" bIns="0" rtlCol="0" anchor="t"/>
          <a:lstStyle/>
          <a:p>
            <a:pPr marL="0" indent="0">
              <a:buNone/>
            </a:pPr>
            <a:r>
              <a:rPr lang="en-US" sz="1200" b="1" dirty="0">
                <a:solidFill>
                  <a:schemeClr val="tx2"/>
                </a:solidFill>
              </a:rPr>
              <a:t>PR-AUC</a:t>
            </a:r>
            <a:endParaRPr lang="en-US" sz="1200" dirty="0"/>
          </a:p>
        </p:txBody>
      </p:sp>
      <p:sp>
        <p:nvSpPr>
          <p:cNvPr id="8" name="Text 6"/>
          <p:cNvSpPr txBox="1"/>
          <p:nvPr/>
        </p:nvSpPr>
        <p:spPr>
          <a:xfrm>
            <a:off x="640080" y="2606040"/>
            <a:ext cx="3566160" cy="54864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0.744</a:t>
            </a:r>
            <a:r>
              <a:rPr lang="en-US" sz="1400" b="1" dirty="0">
                <a:solidFill>
                  <a:schemeClr val="tx2"/>
                </a:solidFill>
                <a:latin typeface="Cambria" pitchFamily="34" charset="0"/>
                <a:ea typeface="Cambria" pitchFamily="34" charset="-122"/>
                <a:cs typeface="Cambria" pitchFamily="34" charset="-120"/>
              </a:rPr>
              <a:t>  to  </a:t>
            </a:r>
            <a:r>
              <a:rPr lang="en-US" sz="3000" b="1" dirty="0">
                <a:solidFill>
                  <a:schemeClr val="accent3"/>
                </a:solidFill>
                <a:latin typeface="Cambria" pitchFamily="34" charset="0"/>
                <a:ea typeface="Cambria" pitchFamily="34" charset="-122"/>
                <a:cs typeface="Cambria" pitchFamily="34" charset="-120"/>
              </a:rPr>
              <a:t>0.356</a:t>
            </a:r>
            <a:endParaRPr lang="en-US" sz="3000" dirty="0"/>
          </a:p>
        </p:txBody>
      </p:sp>
      <p:sp>
        <p:nvSpPr>
          <p:cNvPr id="9" name="drop card"/>
          <p:cNvSpPr/>
          <p:nvPr/>
        </p:nvSpPr>
        <p:spPr>
          <a:xfrm>
            <a:off x="457200" y="3337560"/>
            <a:ext cx="3931920" cy="960120"/>
          </a:xfrm>
          <a:prstGeom prst="roundRect">
            <a:avLst>
              <a:gd name="adj" fmla="val 7619"/>
            </a:avLst>
          </a:prstGeom>
          <a:solidFill>
            <a:schemeClr val="bg2"/>
          </a:solidFill>
          <a:ln/>
        </p:spPr>
      </p:sp>
      <p:sp>
        <p:nvSpPr>
          <p:cNvPr id="10" name="Text 8"/>
          <p:cNvSpPr txBox="1"/>
          <p:nvPr/>
        </p:nvSpPr>
        <p:spPr>
          <a:xfrm>
            <a:off x="640080" y="3410712"/>
            <a:ext cx="3566160" cy="274320"/>
          </a:xfrm>
          <a:prstGeom prst="rect">
            <a:avLst/>
          </a:prstGeom>
          <a:noFill/>
          <a:ln/>
        </p:spPr>
        <p:txBody>
          <a:bodyPr wrap="square" lIns="0" tIns="0" rIns="0" bIns="0" rtlCol="0" anchor="t"/>
          <a:lstStyle/>
          <a:p>
            <a:pPr marL="0" indent="0">
              <a:buNone/>
            </a:pPr>
            <a:r>
              <a:rPr lang="en-US" sz="1200" b="1" dirty="0">
                <a:solidFill>
                  <a:schemeClr val="tx2"/>
                </a:solidFill>
              </a:rPr>
              <a:t>F1-score</a:t>
            </a:r>
            <a:endParaRPr lang="en-US" sz="1200" dirty="0"/>
          </a:p>
        </p:txBody>
      </p:sp>
      <p:sp>
        <p:nvSpPr>
          <p:cNvPr id="11" name="Text 9"/>
          <p:cNvSpPr txBox="1"/>
          <p:nvPr/>
        </p:nvSpPr>
        <p:spPr>
          <a:xfrm>
            <a:off x="640080" y="3703320"/>
            <a:ext cx="3566160" cy="54864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0.681</a:t>
            </a:r>
            <a:r>
              <a:rPr lang="en-US" sz="1400" b="1" dirty="0">
                <a:solidFill>
                  <a:schemeClr val="tx2"/>
                </a:solidFill>
                <a:latin typeface="Cambria" pitchFamily="34" charset="0"/>
                <a:ea typeface="Cambria" pitchFamily="34" charset="-122"/>
                <a:cs typeface="Cambria" pitchFamily="34" charset="-120"/>
              </a:rPr>
              <a:t>  to  </a:t>
            </a:r>
            <a:r>
              <a:rPr lang="en-US" sz="3000" b="1" dirty="0">
                <a:solidFill>
                  <a:schemeClr val="accent3"/>
                </a:solidFill>
                <a:latin typeface="Cambria" pitchFamily="34" charset="0"/>
                <a:ea typeface="Cambria" pitchFamily="34" charset="-122"/>
                <a:cs typeface="Cambria" pitchFamily="34" charset="-120"/>
              </a:rPr>
              <a:t>0.110</a:t>
            </a:r>
            <a:endParaRPr lang="en-US" sz="3000" dirty="0"/>
          </a:p>
        </p:txBody>
      </p:sp>
      <p:sp>
        <p:nvSpPr>
          <p:cNvPr id="12" name="Text 10"/>
          <p:cNvSpPr txBox="1"/>
          <p:nvPr/>
        </p:nvSpPr>
        <p:spPr>
          <a:xfrm>
            <a:off x="457200" y="4434840"/>
            <a:ext cx="3931920" cy="274320"/>
          </a:xfrm>
          <a:prstGeom prst="rect">
            <a:avLst/>
          </a:prstGeom>
          <a:noFill/>
          <a:ln/>
        </p:spPr>
        <p:txBody>
          <a:bodyPr wrap="square" lIns="0" tIns="0" rIns="0" bIns="0" rtlCol="0" anchor="t"/>
          <a:lstStyle/>
          <a:p>
            <a:pPr marL="0" indent="0">
              <a:buNone/>
            </a:pPr>
            <a:r>
              <a:rPr lang="en-US" sz="1100" dirty="0">
                <a:solidFill>
                  <a:schemeClr val="tx2"/>
                </a:solidFill>
              </a:rPr>
              <a:t>Gradient Boosting, test set, with vs without PageValues</a:t>
            </a:r>
            <a:endParaRPr lang="en-US" sz="1100" dirty="0"/>
          </a:p>
        </p:txBody>
      </p:sp>
      <p:pic>
        <p:nvPicPr>
          <p:cNvPr id="13" name="confusion matrices" descr="Confusion matrices with and without PageValues"/>
          <p:cNvPicPr>
            <a:picLocks noChangeAspect="1"/>
          </p:cNvPicPr>
          <p:nvPr/>
        </p:nvPicPr>
        <p:blipFill>
          <a:blip r:embed="rId3"/>
          <a:stretch>
            <a:fillRect/>
          </a:stretch>
        </p:blipFill>
        <p:spPr>
          <a:xfrm>
            <a:off x="4663440" y="1188720"/>
            <a:ext cx="4114800" cy="2317245"/>
          </a:xfrm>
          <a:prstGeom prst="rect">
            <a:avLst/>
          </a:prstGeom>
        </p:spPr>
      </p:pic>
      <p:sp>
        <p:nvSpPr>
          <p:cNvPr id="14" name="Text 11"/>
          <p:cNvSpPr txBox="1"/>
          <p:nvPr/>
        </p:nvSpPr>
        <p:spPr>
          <a:xfrm>
            <a:off x="4663440" y="3734565"/>
            <a:ext cx="4023360" cy="914400"/>
          </a:xfrm>
          <a:prstGeom prst="rect">
            <a:avLst/>
          </a:prstGeom>
          <a:noFill/>
          <a:ln/>
        </p:spPr>
        <p:txBody>
          <a:bodyPr wrap="square" lIns="0" tIns="0" rIns="0" bIns="0" rtlCol="0" anchor="t"/>
          <a:lstStyle/>
          <a:p>
            <a:pPr marL="0" indent="0">
              <a:buNone/>
            </a:pPr>
            <a:r>
              <a:rPr lang="en-US" sz="1400" b="1" dirty="0">
                <a:solidFill>
                  <a:schemeClr val="accent5"/>
                </a:solidFill>
              </a:rPr>
              <a:t>With PageValues: </a:t>
            </a:r>
            <a:r>
              <a:rPr lang="en-US" sz="1400" dirty="0">
                <a:solidFill>
                  <a:schemeClr val="tx1"/>
                </a:solidFill>
              </a:rPr>
              <a:t>244 of 382 buyers found.</a:t>
            </a:r>
            <a:endParaRPr lang="en-US" sz="1400" dirty="0"/>
          </a:p>
          <a:p>
            <a:pPr marL="0" indent="0">
              <a:buNone/>
            </a:pPr>
            <a:r>
              <a:rPr lang="en-US" sz="1400" b="1" dirty="0">
                <a:solidFill>
                  <a:schemeClr val="accent3"/>
                </a:solidFill>
              </a:rPr>
              <a:t>Without: </a:t>
            </a:r>
            <a:r>
              <a:rPr lang="en-US" sz="1400" dirty="0">
                <a:solidFill>
                  <a:schemeClr val="tx1"/>
                </a:solidFill>
              </a:rPr>
              <a:t>only 24 of 382 found at the default threshold.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Interpretation: what drives purchases</a:t>
            </a:r>
            <a:endParaRPr lang="en-US" sz="3200" dirty="0"/>
          </a:p>
        </p:txBody>
      </p:sp>
      <p:graphicFrame>
        <p:nvGraphicFramePr>
          <p:cNvPr id="3" name="importance with PV"/>
          <p:cNvGraphicFramePr/>
          <p:nvPr/>
        </p:nvGraphicFramePr>
        <p:xfrm>
          <a:off x="457200" y="1097280"/>
          <a:ext cx="4023360" cy="2514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importance without PV"/>
          <p:cNvGraphicFramePr/>
          <p:nvPr/>
        </p:nvGraphicFramePr>
        <p:xfrm>
          <a:off x="4663440" y="1097280"/>
          <a:ext cx="4023360" cy="25146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1"/>
          <p:cNvSpPr txBox="1"/>
          <p:nvPr/>
        </p:nvSpPr>
        <p:spPr>
          <a:xfrm>
            <a:off x="457200" y="3611880"/>
            <a:ext cx="8229600" cy="228600"/>
          </a:xfrm>
          <a:prstGeom prst="rect">
            <a:avLst/>
          </a:prstGeom>
          <a:noFill/>
          <a:ln/>
        </p:spPr>
        <p:txBody>
          <a:bodyPr wrap="square" lIns="0" tIns="0" rIns="0" bIns="0" rtlCol="0" anchor="t"/>
          <a:lstStyle/>
          <a:p>
            <a:pPr marL="0" indent="0">
              <a:buNone/>
            </a:pPr>
            <a:r>
              <a:rPr lang="en-US" sz="1100" dirty="0">
                <a:solidFill>
                  <a:schemeClr val="tx2"/>
                </a:solidFill>
              </a:rPr>
              <a:t>Gradient Boosting, top-5 feature importance</a:t>
            </a:r>
            <a:endParaRPr lang="en-US" sz="1100" dirty="0"/>
          </a:p>
        </p:txBody>
      </p:sp>
      <p:sp>
        <p:nvSpPr>
          <p:cNvPr id="6" name="with pv card"/>
          <p:cNvSpPr/>
          <p:nvPr/>
        </p:nvSpPr>
        <p:spPr>
          <a:xfrm>
            <a:off x="457200" y="3931920"/>
            <a:ext cx="4023360" cy="731520"/>
          </a:xfrm>
          <a:prstGeom prst="roundRect">
            <a:avLst>
              <a:gd name="adj" fmla="val 10000"/>
            </a:avLst>
          </a:prstGeom>
          <a:solidFill>
            <a:schemeClr val="bg2"/>
          </a:solidFill>
          <a:ln/>
        </p:spPr>
      </p:sp>
      <p:sp>
        <p:nvSpPr>
          <p:cNvPr id="7" name="Text 3"/>
          <p:cNvSpPr txBox="1"/>
          <p:nvPr/>
        </p:nvSpPr>
        <p:spPr>
          <a:xfrm>
            <a:off x="594360" y="3931920"/>
            <a:ext cx="3749040" cy="731520"/>
          </a:xfrm>
          <a:prstGeom prst="rect">
            <a:avLst/>
          </a:prstGeom>
          <a:noFill/>
          <a:ln/>
        </p:spPr>
        <p:txBody>
          <a:bodyPr wrap="square" lIns="0" tIns="0" rIns="0" bIns="0" rtlCol="0" anchor="ctr"/>
          <a:lstStyle/>
          <a:p>
            <a:pPr marL="0" indent="0">
              <a:buNone/>
            </a:pPr>
            <a:r>
              <a:rPr lang="en-US" sz="1300" b="1" dirty="0">
                <a:solidFill>
                  <a:schemeClr val="accent5"/>
                </a:solidFill>
              </a:rPr>
              <a:t>PageValues holds 77.8% of importance. </a:t>
            </a:r>
            <a:r>
              <a:rPr lang="en-US" sz="1300" dirty="0">
                <a:solidFill>
                  <a:schemeClr val="tx1"/>
                </a:solidFill>
              </a:rPr>
              <a:t>The model mostly reads the answer.</a:t>
            </a:r>
            <a:endParaRPr lang="en-US" sz="1300" dirty="0"/>
          </a:p>
        </p:txBody>
      </p:sp>
      <p:sp>
        <p:nvSpPr>
          <p:cNvPr id="8" name="without pv card"/>
          <p:cNvSpPr/>
          <p:nvPr/>
        </p:nvSpPr>
        <p:spPr>
          <a:xfrm>
            <a:off x="4663440" y="3931920"/>
            <a:ext cx="4023360" cy="731520"/>
          </a:xfrm>
          <a:prstGeom prst="roundRect">
            <a:avLst>
              <a:gd name="adj" fmla="val 10000"/>
            </a:avLst>
          </a:prstGeom>
          <a:solidFill>
            <a:schemeClr val="accent6"/>
          </a:solidFill>
          <a:ln/>
        </p:spPr>
      </p:sp>
      <p:sp>
        <p:nvSpPr>
          <p:cNvPr id="9" name="Text 5"/>
          <p:cNvSpPr txBox="1"/>
          <p:nvPr/>
        </p:nvSpPr>
        <p:spPr>
          <a:xfrm>
            <a:off x="4800600" y="3931920"/>
            <a:ext cx="3749040" cy="731520"/>
          </a:xfrm>
          <a:prstGeom prst="rect">
            <a:avLst/>
          </a:prstGeom>
          <a:noFill/>
          <a:ln/>
        </p:spPr>
        <p:txBody>
          <a:bodyPr wrap="square" lIns="0" tIns="0" rIns="0" bIns="0" rtlCol="0" anchor="ctr"/>
          <a:lstStyle/>
          <a:p>
            <a:pPr marL="0" indent="0">
              <a:buNone/>
            </a:pPr>
            <a:r>
              <a:rPr lang="en-US" sz="1300" b="1" dirty="0">
                <a:solidFill>
                  <a:schemeClr val="accent3"/>
                </a:solidFill>
              </a:rPr>
              <a:t>Exit rate leads, </a:t>
            </a:r>
            <a:r>
              <a:rPr lang="en-US" sz="1300" dirty="0">
                <a:solidFill>
                  <a:schemeClr val="tx1"/>
                </a:solidFill>
              </a:rPr>
              <a:t>then time on product pages and November.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188720"/>
            <a:ext cx="7863840" cy="1463040"/>
          </a:xfrm>
          <a:prstGeom prst="rect">
            <a:avLst/>
          </a:prstGeom>
          <a:noFill/>
          <a:ln/>
        </p:spPr>
        <p:txBody>
          <a:bodyPr wrap="square" lIns="0" tIns="0" rIns="0" bIns="0" rtlCol="0" anchor="t"/>
          <a:lstStyle/>
          <a:p>
            <a:pPr marL="0" indent="0" algn="l">
              <a:buNone/>
            </a:pPr>
            <a:r>
              <a:rPr lang="en-US" sz="3800" b="1" dirty="0">
                <a:solidFill>
                  <a:schemeClr val="bg1"/>
                </a:solidFill>
              </a:rPr>
              <a:t>Conclusion</a:t>
            </a:r>
            <a:endParaRPr lang="en-US" sz="3800" dirty="0"/>
          </a:p>
        </p:txBody>
      </p:sp>
      <p:sp>
        <p:nvSpPr>
          <p:cNvPr id="4" name="takeaway 1 circle"/>
          <p:cNvSpPr/>
          <p:nvPr/>
        </p:nvSpPr>
        <p:spPr>
          <a:xfrm>
            <a:off x="640080" y="2331720"/>
            <a:ext cx="502920" cy="502920"/>
          </a:xfrm>
          <a:prstGeom prst="ellipse">
            <a:avLst/>
          </a:prstGeom>
          <a:solidFill>
            <a:schemeClr val="accent1"/>
          </a:solidFill>
          <a:ln/>
        </p:spPr>
      </p:sp>
      <p:pic>
        <p:nvPicPr>
          <p:cNvPr id="5" name="takeaway 1 glyph" descr="takeaway 1"/>
          <p:cNvPicPr>
            <a:picLocks noChangeAspect="1"/>
          </p:cNvPicPr>
          <p:nvPr/>
        </p:nvPicPr>
        <p:blipFill>
          <a:blip r:embed="rId3"/>
          <a:stretch>
            <a:fillRect/>
          </a:stretch>
        </p:blipFill>
        <p:spPr>
          <a:xfrm>
            <a:off x="775868" y="2467508"/>
            <a:ext cx="231343" cy="231343"/>
          </a:xfrm>
          <a:prstGeom prst="rect">
            <a:avLst/>
          </a:prstGeom>
        </p:spPr>
      </p:pic>
      <p:sp>
        <p:nvSpPr>
          <p:cNvPr id="6" name="Text 3"/>
          <p:cNvSpPr txBox="1"/>
          <p:nvPr/>
        </p:nvSpPr>
        <p:spPr>
          <a:xfrm>
            <a:off x="1371600" y="2331720"/>
            <a:ext cx="7132320" cy="548640"/>
          </a:xfrm>
          <a:prstGeom prst="rect">
            <a:avLst/>
          </a:prstGeom>
          <a:noFill/>
          <a:ln/>
        </p:spPr>
        <p:txBody>
          <a:bodyPr wrap="square" lIns="0" tIns="0" rIns="0" bIns="0" rtlCol="0" anchor="ctr"/>
          <a:lstStyle/>
          <a:p>
            <a:pPr marL="0" indent="0">
              <a:buNone/>
            </a:pPr>
            <a:r>
              <a:rPr lang="en-US" sz="1600" dirty="0">
                <a:solidFill>
                  <a:schemeClr val="bg1"/>
                </a:solidFill>
              </a:rPr>
              <a:t>Gradient Boosting is the strongest model: ROC-AUC 0.937 with PageValues, 0.784 without.</a:t>
            </a:r>
            <a:endParaRPr lang="en-US" sz="1600" dirty="0"/>
          </a:p>
        </p:txBody>
      </p:sp>
      <p:sp>
        <p:nvSpPr>
          <p:cNvPr id="7" name="takeaway 2 circle"/>
          <p:cNvSpPr/>
          <p:nvPr/>
        </p:nvSpPr>
        <p:spPr>
          <a:xfrm>
            <a:off x="640080" y="3108960"/>
            <a:ext cx="502920" cy="502920"/>
          </a:xfrm>
          <a:prstGeom prst="ellipse">
            <a:avLst/>
          </a:prstGeom>
          <a:solidFill>
            <a:schemeClr val="accent3"/>
          </a:solidFill>
          <a:ln/>
        </p:spPr>
      </p:sp>
      <p:pic>
        <p:nvPicPr>
          <p:cNvPr id="8" name="takeaway 2 glyph" descr="takeaway 2"/>
          <p:cNvPicPr>
            <a:picLocks noChangeAspect="1"/>
          </p:cNvPicPr>
          <p:nvPr/>
        </p:nvPicPr>
        <p:blipFill>
          <a:blip r:embed="rId4"/>
          <a:stretch>
            <a:fillRect/>
          </a:stretch>
        </p:blipFill>
        <p:spPr>
          <a:xfrm>
            <a:off x="775868" y="3244748"/>
            <a:ext cx="231343" cy="231343"/>
          </a:xfrm>
          <a:prstGeom prst="rect">
            <a:avLst/>
          </a:prstGeom>
        </p:spPr>
      </p:pic>
      <p:sp>
        <p:nvSpPr>
          <p:cNvPr id="9" name="Text 5"/>
          <p:cNvSpPr txBox="1"/>
          <p:nvPr/>
        </p:nvSpPr>
        <p:spPr>
          <a:xfrm>
            <a:off x="1371600" y="3130651"/>
            <a:ext cx="7132320" cy="548640"/>
          </a:xfrm>
          <a:prstGeom prst="rect">
            <a:avLst/>
          </a:prstGeom>
          <a:noFill/>
          <a:ln/>
        </p:spPr>
        <p:txBody>
          <a:bodyPr wrap="square" lIns="0" tIns="0" rIns="0" bIns="0" rtlCol="0" anchor="ctr"/>
          <a:lstStyle/>
          <a:p>
            <a:pPr marL="0" indent="0">
              <a:buNone/>
            </a:pPr>
            <a:r>
              <a:rPr lang="en-US" sz="1600" dirty="0">
                <a:solidFill>
                  <a:schemeClr val="bg1"/>
                </a:solidFill>
              </a:rPr>
              <a:t>PageValues inflates results. Removing it cuts PR-AUC by 52% and F1 by 84%.</a:t>
            </a:r>
            <a:endParaRPr lang="en-US" sz="1600" dirty="0"/>
          </a:p>
        </p:txBody>
      </p:sp>
      <p:sp>
        <p:nvSpPr>
          <p:cNvPr id="10" name="takeaway 3 circle"/>
          <p:cNvSpPr/>
          <p:nvPr/>
        </p:nvSpPr>
        <p:spPr>
          <a:xfrm>
            <a:off x="640080" y="3886200"/>
            <a:ext cx="502920" cy="502920"/>
          </a:xfrm>
          <a:prstGeom prst="ellipse">
            <a:avLst/>
          </a:prstGeom>
          <a:solidFill>
            <a:schemeClr val="accent1"/>
          </a:solidFill>
          <a:ln/>
        </p:spPr>
      </p:sp>
      <p:pic>
        <p:nvPicPr>
          <p:cNvPr id="11" name="takeaway 3 glyph" descr="takeaway 3"/>
          <p:cNvPicPr>
            <a:picLocks noChangeAspect="1"/>
          </p:cNvPicPr>
          <p:nvPr/>
        </p:nvPicPr>
        <p:blipFill>
          <a:blip r:embed="rId5"/>
          <a:stretch>
            <a:fillRect/>
          </a:stretch>
        </p:blipFill>
        <p:spPr>
          <a:xfrm>
            <a:off x="775868" y="4021988"/>
            <a:ext cx="231343" cy="231343"/>
          </a:xfrm>
          <a:prstGeom prst="rect">
            <a:avLst/>
          </a:prstGeom>
        </p:spPr>
      </p:pic>
      <p:sp>
        <p:nvSpPr>
          <p:cNvPr id="12" name="Text 7"/>
          <p:cNvSpPr txBox="1"/>
          <p:nvPr/>
        </p:nvSpPr>
        <p:spPr>
          <a:xfrm>
            <a:off x="1371600" y="3886200"/>
            <a:ext cx="7132320" cy="548640"/>
          </a:xfrm>
          <a:prstGeom prst="rect">
            <a:avLst/>
          </a:prstGeom>
          <a:noFill/>
          <a:ln/>
        </p:spPr>
        <p:txBody>
          <a:bodyPr wrap="square" lIns="0" tIns="0" rIns="0" bIns="0" rtlCol="0" anchor="ctr"/>
          <a:lstStyle/>
          <a:p>
            <a:pPr marL="0" indent="0">
              <a:buNone/>
            </a:pPr>
            <a:r>
              <a:rPr lang="en-US" sz="1600" dirty="0">
                <a:solidFill>
                  <a:schemeClr val="bg1"/>
                </a:solidFill>
              </a:rPr>
              <a:t>Next: tune the decision threshold, repeat the cross-validation, and score sessions as they unfold.</a:t>
            </a:r>
            <a:endParaRPr lang="en-US" sz="1600" dirty="0"/>
          </a:p>
        </p:txBody>
      </p:sp>
    </p:spTree>
  </p:cSld>
  <p:clrMapOvr>
    <a:masterClrMapping/>
  </p:clrMapOvr>
</p:sld>
</file>

<file path=ppt/theme/theme1.xml><?xml version="1.0" encoding="utf-8"?>
<a:theme xmlns:a="http://schemas.openxmlformats.org/drawingml/2006/main" name="Shopper Intent">
  <a:themeElements>
    <a:clrScheme name="Shopper Intent">
      <a:dk1>
        <a:srgbClr val="12263A"/>
      </a:dk1>
      <a:lt1>
        <a:srgbClr val="FFFFFF"/>
      </a:lt1>
      <a:dk2>
        <a:srgbClr val="4A5A6A"/>
      </a:dk2>
      <a:lt2>
        <a:srgbClr val="EAF5F3"/>
      </a:lt2>
      <a:accent1>
        <a:srgbClr val="1B998B"/>
      </a:accent1>
      <a:accent2>
        <a:srgbClr val="E8A33D"/>
      </a:accent2>
      <a:accent3>
        <a:srgbClr val="D6502F"/>
      </a:accent3>
      <a:accent4>
        <a:srgbClr val="8A97A6"/>
      </a:accent4>
      <a:accent5>
        <a:srgbClr val="0F6F66"/>
      </a:accent5>
      <a:accent6>
        <a:srgbClr val="FDF3E1"/>
      </a:accent6>
      <a:hlink>
        <a:srgbClr val="1B998B"/>
      </a:hlink>
      <a:folHlink>
        <a:srgbClr val="4A5A6A"/>
      </a:folHlink>
    </a:clrScheme>
    <a:fontScheme name="Shopper Int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1260</Words>
  <Application>Microsoft Office PowerPoint</Application>
  <PresentationFormat>On-screen Show (16:9)</PresentationFormat>
  <Paragraphs>145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Shopper Intent</vt:lpstr>
      <vt:lpstr>Predicting Online Shoppers' Purchasing Intention</vt:lpstr>
      <vt:lpstr>Problem statement</vt:lpstr>
      <vt:lpstr>Dataset overview</vt:lpstr>
      <vt:lpstr>Data understanding: what EDA showed</vt:lpstr>
      <vt:lpstr>Preprocessing without leakage</vt:lpstr>
      <vt:lpstr>Predictive modelling approach</vt:lpstr>
      <vt:lpstr>Model development and tuning</vt:lpstr>
      <vt:lpstr>Evaluation on the held-out test set</vt:lpstr>
      <vt:lpstr>Results: PageValues carries the score</vt:lpstr>
      <vt:lpstr>Interpretation: what drives purchases</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Online Shoppers' Purchasing Intention</dc:title>
  <dc:subject>PptxGenJS Presentation</dc:subject>
  <dc:creator>Kshitij Bhele</dc:creator>
  <cp:lastModifiedBy>Kshitij Bhele</cp:lastModifiedBy>
  <cp:revision>2</cp:revision>
  <dcterms:created xsi:type="dcterms:W3CDTF">2026-10-10T16:15:54Z</dcterms:created>
  <dcterms:modified xsi:type="dcterms:W3CDTF">2026-10-10T17:02:40Z</dcterms:modified>
</cp:coreProperties>
</file>